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1371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18688"/>
            <a:ext cx="12188952" cy="7315"/>
          </a:xfrm>
          <a:prstGeom prst="rect">
            <a:avLst/>
          </a:prstGeom>
          <a:solidFill>
            <a:srgbClr val="05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Network Guardian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38BDF8"/>
                </a:solidFill>
              </a:rPr>
              <a:t>An Intelligent System That Automatically Protects Computer
Networks from Attacks Using Artificial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743200"/>
            <a:ext cx="7616952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BC8FF"/>
                </a:solidFill>
              </a:rPr>
              <a:t>Arya Y P,  Adi Narayan Prasad G,  Ashrith S Jain,  Abhishek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156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Under the guidance of  Prof. Nalina 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22191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Department of Information Science and Engineering
B.M.S. College of Engineering, Bengaluru-560019, India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4572000"/>
            <a:ext cx="5239512" cy="640080"/>
          </a:xfrm>
          <a:solidFill>
            <a:srgbClr val="0E2040"/>
          </a:solidFill>
          <a:ln w="1905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663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BC8FF"/>
                </a:solidFill>
              </a:rPr>
              <a:t>ICWITE 2026  —  Accepted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5394960"/>
            <a:ext cx="3044952" cy="12344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8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&lt;1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98932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Attack
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5394960"/>
            <a:ext cx="3044952" cy="12344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544068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2.88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598932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Total Response
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4" y="5394960"/>
            <a:ext cx="3044952" cy="1234440"/>
          </a:xfrm>
          <a:prstGeom prst="rect">
            <a:avLst/>
          </a:prstGeom>
          <a:solidFill>
            <a:srgbClr val="081835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18704" y="544068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BC8FF"/>
                </a:solidFill>
              </a:rPr>
              <a:t>99%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18704" y="5989320"/>
            <a:ext cx="28620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Blocking
Success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1/14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The Cybersecurity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The Modern Network Threat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6400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 b="1">
                <a:solidFill>
                  <a:srgbClr val="5BC8FF"/>
                </a:solidFill>
              </a:rPr>
              <a:t>• Cryptic Alerts:  </a:t>
            </a:r>
            <a:r>
              <a:rPr sz="1400" b="0">
                <a:solidFill>
                  <a:srgbClr val="FFFFFF"/>
                </a:solidFill>
              </a:rPr>
              <a:t>Traditional IDS displays messages like "ICMP flood from 192.168.1.50 at 150 pps" with no context. Non-experts cannot act.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5BC8FF"/>
                </a:solidFill>
              </a:rPr>
              <a:t>• Alert Fatigue:  </a:t>
            </a:r>
            <a:r>
              <a:rPr sz="1400" b="0">
                <a:solidFill>
                  <a:srgbClr val="FFFFFF"/>
                </a:solidFill>
              </a:rPr>
              <a:t>Systems generate thousands of alerts daily. Security teams become desensitized and miss critical threats. [2]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5BC8FF"/>
                </a:solidFill>
              </a:rPr>
              <a:t>• Manual Response Too Slow:  </a:t>
            </a:r>
            <a:r>
              <a:rPr sz="1400" b="0">
                <a:solidFill>
                  <a:srgbClr val="FFFFFF"/>
                </a:solidFill>
              </a:rPr>
              <a:t>Attacks execute in milliseconds. Average breach detection: 207 days. Containment: +73 days. [1]</a:t>
            </a:r>
          </a:p>
          <a:p>
            <a:pPr>
              <a:spcBef>
                <a:spcPts val="200"/>
              </a:spcBef>
            </a:pPr>
          </a:p>
          <a:p>
            <a:pPr>
              <a:spcBef>
                <a:spcPts val="500"/>
              </a:spcBef>
            </a:pPr>
            <a:r>
              <a:rPr sz="1400" b="1">
                <a:solidFill>
                  <a:srgbClr val="5BC8FF"/>
                </a:solidFill>
              </a:rPr>
              <a:t>• Skills Gap:  </a:t>
            </a:r>
            <a:r>
              <a:rPr sz="1400" b="0">
                <a:solidFill>
                  <a:srgbClr val="FFFFFF"/>
                </a:solidFill>
              </a:rPr>
              <a:t>Organizations lack trained personnel to interpret technical alerts and respond autonomously.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115568"/>
            <a:ext cx="4846320" cy="53035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42048" y="1280160"/>
            <a:ext cx="45079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Why Network Guardian?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2048" y="1755648"/>
            <a:ext cx="4443984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Detects attacks in &lt; 1 second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Generates plain-English explanations
accessible to non-experts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Autonomously blocks attacker IPs
via OS routing commands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Auto-reverts blocks after 60 s
— false positives self-heal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100% user comprehension vs.
&lt; 30% for raw technical alerts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99.96% Wireshark validation
agreement across all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BDF8"/>
                </a:solidFill>
              </a:rPr>
              <a:t>Network Guardian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566160" cy="50292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99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39903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BC8FF"/>
                </a:solidFill>
              </a:rPr>
              <a:t>Autonomous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20"/>
            <a:ext cx="316382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Real-time monitoring of 5 attack types:
ICMP Flood, SYN Flood, UDP Flood,
Port Scan, IP Fragmentation.
Sliding-window counters with
sub-second latency (&lt;1 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566160" cy="50292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399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4" y="139903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BC8FF"/>
                </a:solidFill>
              </a:rPr>
              <a:t>AI-Powered
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74520"/>
            <a:ext cx="316382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Locally hosted TinyLlama LLM
(via Ollama) generates plain-English
explanations for every detected attack.
No cloud — private, fast,
and accessible to non-experts.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234440"/>
            <a:ext cx="3566160" cy="50292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399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39903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BC8FF"/>
                </a:solidFill>
              </a:rPr>
              <a:t>Autonomous
Mitigation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874520"/>
            <a:ext cx="3163824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Automatic OS-level route blocking
(Windows: route add  |  Linux: ip route).
60-second auto-revert bounds
false-positive impact.
99% blocking success 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Proposed 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4/14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5-Layer Modular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760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5BC8FF"/>
                </a:solidFill>
              </a:rPr>
              <a:t>• Web Dashboard  </a:t>
            </a:r>
          </a:p>
          <a:p>
            <a:pPr>
              <a:spcBef>
                <a:spcPts val="100"/>
              </a:spcBef>
            </a:pPr>
            <a:r>
              <a:rPr sz="1350" b="0">
                <a:solidFill>
                  <a:srgbClr val="FFFFFF"/>
                </a:solidFill>
              </a:rPr>
              <a:t>   Real-time Flask + Socket.IO browser UI.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5BC8FF"/>
                </a:solidFill>
              </a:rPr>
              <a:t>• Mitigator  </a:t>
            </a:r>
          </a:p>
          <a:p>
            <a:pPr>
              <a:spcBef>
                <a:spcPts val="100"/>
              </a:spcBef>
            </a:pPr>
            <a:r>
              <a:rPr sz="1350" b="0">
                <a:solidFill>
                  <a:srgbClr val="FFFFFF"/>
                </a:solidFill>
              </a:rPr>
              <a:t>   OS route blocking with 60 s auto-revert.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5BC8FF"/>
                </a:solidFill>
              </a:rPr>
              <a:t>• LLM Analyzer  </a:t>
            </a:r>
          </a:p>
          <a:p>
            <a:pPr>
              <a:spcBef>
                <a:spcPts val="100"/>
              </a:spcBef>
            </a:pPr>
            <a:r>
              <a:rPr sz="1350" b="0">
                <a:solidFill>
                  <a:srgbClr val="FFFFFF"/>
                </a:solidFill>
              </a:rPr>
              <a:t>   TinyLlama explains threats in plain English.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5BC8FF"/>
                </a:solidFill>
              </a:rPr>
              <a:t>• Attack Detector  </a:t>
            </a:r>
          </a:p>
          <a:p>
            <a:pPr>
              <a:spcBef>
                <a:spcPts val="100"/>
              </a:spcBef>
            </a:pPr>
            <a:r>
              <a:rPr sz="1350" b="0">
                <a:solidFill>
                  <a:srgbClr val="FFFFFF"/>
                </a:solidFill>
              </a:rPr>
              <a:t>   5 sliding-window detectors in parallel.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5BC8FF"/>
                </a:solidFill>
              </a:rPr>
              <a:t>• Network Sniffer  </a:t>
            </a:r>
          </a:p>
          <a:p>
            <a:pPr>
              <a:spcBef>
                <a:spcPts val="100"/>
              </a:spcBef>
            </a:pPr>
            <a:r>
              <a:rPr sz="1350" b="0">
                <a:solidFill>
                  <a:srgbClr val="FFFFFF"/>
                </a:solidFill>
              </a:rPr>
              <a:t>   Scapy packet capture, metadata extraction.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234440"/>
            <a:ext cx="5394960" cy="749808"/>
          </a:xfrm>
          <a:prstGeom prst="rect">
            <a:avLst/>
          </a:prstGeom>
          <a:solidFill>
            <a:srgbClr val="0E3A6B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5  |  Web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75688"/>
            <a:ext cx="5394960" cy="749808"/>
          </a:xfrm>
          <a:prstGeom prst="rect">
            <a:avLst/>
          </a:prstGeom>
          <a:solidFill>
            <a:srgbClr val="0B4D4A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21284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4  |  Mitigator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916936"/>
            <a:ext cx="5394960" cy="749808"/>
          </a:xfrm>
          <a:prstGeom prst="rect">
            <a:avLst/>
          </a:prstGeom>
          <a:solidFill>
            <a:srgbClr val="2D1B6B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054096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3  |  LLM Analyzer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758184"/>
            <a:ext cx="5394960" cy="749808"/>
          </a:xfrm>
          <a:prstGeom prst="rect">
            <a:avLst/>
          </a:prstGeom>
          <a:solidFill>
            <a:srgbClr val="5A1A1A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895344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2  |  Attack Detector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599432"/>
            <a:ext cx="5394960" cy="749808"/>
          </a:xfrm>
          <a:prstGeom prst="rect">
            <a:avLst/>
          </a:prstGeom>
          <a:solidFill>
            <a:srgbClr val="0C3B1C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7365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Layer 1  |  Network Sniffer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5394960"/>
            <a:ext cx="5394960" cy="457200"/>
          </a:xfrm>
          <a:prstGeom prst="rect">
            <a:avLst/>
          </a:prstGeom>
          <a:solidFill>
            <a:srgbClr val="05102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54498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Packet  →  Detect  →  Explain  →  Block  → 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BD5E1"/>
                </a:solidFill>
              </a:rPr>
              <a:t>Shared Queue Bus: packet_queue  |  threat_queue  |  ui_log_queue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Attack Detection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5/14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Five Independent Sliding-Window Detectors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 b="1">
                <a:solidFill>
                  <a:srgbClr val="5BC8FF"/>
                </a:solidFill>
              </a:rPr>
              <a:t>• SlidingWindowCounter</a:t>
            </a:r>
            <a:r>
              <a:rPr sz="1400" b="0">
                <a:solidFill>
                  <a:srgbClr val="FFFFFF"/>
                </a:solidFill>
              </a:rPr>
              <a:t>:  Timestamps in a deque per source IP; evict entries older than the window; count remaining.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5BC8FF"/>
                </a:solidFill>
              </a:rPr>
              <a:t>• PortScanTracker</a:t>
            </a:r>
            <a:r>
              <a:rPr sz="1400" b="0">
                <a:solidFill>
                  <a:srgbClr val="FFFFFF"/>
                </a:solidFill>
              </a:rPr>
              <a:t>:  Unique destination ports per IP in a 5 s window — distinguishes scan from flood.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5BC8FF"/>
                </a:solidFill>
              </a:rPr>
              <a:t>• Cooldown (60 s)</a:t>
            </a:r>
            <a:r>
              <a:rPr sz="1400" b="0">
                <a:solidFill>
                  <a:srgbClr val="FFFFFF"/>
                </a:solidFill>
              </a:rPr>
              <a:t>:  Per (IP, AttackType) pair — prevents alert storms; different attack types fire independently.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5BC8FF"/>
                </a:solidFill>
              </a:rPr>
              <a:t>• Detection triggers</a:t>
            </a:r>
            <a:r>
              <a:rPr sz="1400" b="0">
                <a:solidFill>
                  <a:srgbClr val="FFFFFF"/>
                </a:solidFill>
              </a:rPr>
              <a:t>:  4–10× above measured traffic baseline — near-zero false-positive rate (&lt;0.01).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234440"/>
            <a:ext cx="1783080" cy="47548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89320" y="132588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Attack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80" y="1234440"/>
            <a:ext cx="1097280" cy="47548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32588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Threshold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1234440"/>
            <a:ext cx="1005840" cy="47548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3258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Window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234440"/>
            <a:ext cx="1005840" cy="475488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0" y="13258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Cooldown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709928"/>
            <a:ext cx="17830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9320" y="180136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ICMP Flood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26680" y="1709928"/>
            <a:ext cx="10972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180136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60" y="1709928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8013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29800" y="1709928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0" y="1801368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185416"/>
            <a:ext cx="178308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89320" y="2276856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SYN Flood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80" y="2185416"/>
            <a:ext cx="109728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2276856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2185416"/>
            <a:ext cx="100584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227685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2185416"/>
            <a:ext cx="100584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27685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660904"/>
            <a:ext cx="17830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89320" y="2752344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UDP Flood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80" y="2660904"/>
            <a:ext cx="10972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0" y="275234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20 pps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23960" y="2660904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2752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2660904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0" y="275234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3136392"/>
            <a:ext cx="178308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89320" y="3227832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Port Scan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80" y="3136392"/>
            <a:ext cx="109728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322783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 ports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23960" y="3136392"/>
            <a:ext cx="100584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0" y="3227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5.0 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9800" y="3136392"/>
            <a:ext cx="1005840" cy="47548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0" y="322783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0" y="3611880"/>
            <a:ext cx="17830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3703320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C8FF"/>
                </a:solidFill>
              </a:rPr>
              <a:t>IP Fragmentation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726680" y="3611880"/>
            <a:ext cx="109728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3703320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 pps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23960" y="3611880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0" y="37033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1.0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3611880"/>
            <a:ext cx="1005840" cy="47548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0" y="370332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60 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43600" y="4206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Detection Latency — Measured Results (Table IV of paper)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43600" y="4617720"/>
            <a:ext cx="1417320" cy="384048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80176" y="4681728"/>
            <a:ext cx="13441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Attack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60920" y="4617720"/>
            <a:ext cx="1078992" cy="384048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97496" y="468172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Min (s)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9912" y="4617720"/>
            <a:ext cx="1115568" cy="384048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76488" y="4681728"/>
            <a:ext cx="10424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Mean (s)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80" y="4617720"/>
            <a:ext cx="1097280" cy="384048"/>
          </a:xfrm>
          <a:prstGeom prst="rect">
            <a:avLst/>
          </a:prstGeom>
          <a:solidFill>
            <a:srgbClr val="05255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592056" y="4681728"/>
            <a:ext cx="10241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Max (s)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5001768"/>
            <a:ext cx="141732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0176" y="5074920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ICMP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360920" y="5001768"/>
            <a:ext cx="1078992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97496" y="50749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439912" y="5001768"/>
            <a:ext cx="1115568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76488" y="5074920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55480" y="5001768"/>
            <a:ext cx="109728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92056" y="5074920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0.19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0" y="5385816"/>
            <a:ext cx="1417320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80176" y="5458968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SYN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60920" y="5385816"/>
            <a:ext cx="1078992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97496" y="54589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39912" y="5385816"/>
            <a:ext cx="1115568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76488" y="5458968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55480" y="5385816"/>
            <a:ext cx="1097280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592056" y="5458968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0.34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943600" y="5769864"/>
            <a:ext cx="141732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980176" y="5843016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UDP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360920" y="5769864"/>
            <a:ext cx="1078992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97496" y="584301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39912" y="5769864"/>
            <a:ext cx="1115568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76488" y="5843016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555480" y="5769864"/>
            <a:ext cx="109728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92056" y="5843016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943600" y="6153912"/>
            <a:ext cx="1417320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980176" y="6227064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Scan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60920" y="6153912"/>
            <a:ext cx="1078992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97496" y="622706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39912" y="6153912"/>
            <a:ext cx="1115568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76488" y="6227064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0.51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555480" y="6153912"/>
            <a:ext cx="1097280" cy="384048"/>
          </a:xfrm>
          <a:prstGeom prst="rect">
            <a:avLst/>
          </a:prstGeom>
          <a:solidFill>
            <a:srgbClr val="08183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92056" y="6227064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0.62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943600" y="6537960"/>
            <a:ext cx="141732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980176" y="6611112"/>
            <a:ext cx="1344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Frag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60920" y="6537960"/>
            <a:ext cx="1078992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97496" y="66111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0.18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39912" y="6537960"/>
            <a:ext cx="1115568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76488" y="6611112"/>
            <a:ext cx="10424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555480" y="6537960"/>
            <a:ext cx="1097280" cy="384048"/>
          </a:xfrm>
          <a:prstGeom prst="rect">
            <a:avLst/>
          </a:prstGeom>
          <a:solidFill>
            <a:srgbClr val="0E2040"/>
          </a:solidFill>
          <a:ln w="762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592056" y="6611112"/>
            <a:ext cx="10241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0.27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LLM Analyzer: AI-Powered Explanation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241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8BDF8"/>
                </a:solidFill>
              </a:rPr>
              <a:t>Local LLM Reasoning — TinyLlama via 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5577840" cy="516636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627632"/>
            <a:ext cx="4818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Key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103120"/>
            <a:ext cx="5175504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TinyLlama 1.1B parameter LLM via Ollama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running locally at localhost:11434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Prompt includes: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– Attacker IP, attack type, packet count,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– Normal baseline (&lt; 20 pps)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Returns structured JSON: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{ "attack", "explanation", "mitigation" }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temperature = 0.1  — near-deterministic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3-retry policy  |  30 s timeout per attempt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Fallback reasoning if Ollama unreachable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IP hallucination guard — corrects wrong IP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94% first-attempt JSON success rate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Mean analysis time: 2.46 s  (85.4% of pipeline)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63040"/>
            <a:ext cx="5760720" cy="516636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27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627632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Prompt &amp; Output Example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212848"/>
            <a:ext cx="5303520" cy="1874519"/>
          </a:xfrm>
          <a:prstGeom prst="rect">
            <a:avLst/>
          </a:prstGeom>
          <a:solidFill>
            <a:srgbClr val="041022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677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C8FF"/>
                </a:solidFill>
              </a:rPr>
              <a:t>PROMPT SENT TO OLLAMA: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42032"/>
            <a:ext cx="50292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FF80"/>
                </a:solidFill>
              </a:rPr>
              <a:t>Attack Evidence:
  Source IP:    203.0.113.50
  Attack Type:  SYN Flood
  Count:        87 packets in 1 s
  Baseline:     &lt; 20 pps
Respond with ONLY JSON:
{ "attack": "...", "explanation": "...",
  "mitigation": "route add ..." 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187952"/>
            <a:ext cx="5303520" cy="1371600"/>
          </a:xfrm>
          <a:prstGeom prst="rect">
            <a:avLst/>
          </a:prstGeom>
          <a:solidFill>
            <a:srgbClr val="041022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42816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BC8FF"/>
                </a:solidFill>
              </a:rPr>
              <a:t>LLM RESPONSE: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2628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E080"/>
                </a:solidFill>
              </a:rPr>
              <a:t>"attack": "SYN Flood",
"explanation": "Attacker sends SYN packets
  without ACK, exhausting TCP queue.
  Blocking stops new connections.",
"mitigation": "route add 203.0.113.50
  mask 255.255.255.255 192.0.2.1"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Autonomous Mitigation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7/14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Security-First Design — No Shell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81912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Command Injection Prevention: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LLM output NEVER passed to shell=True. IP validated
with Python ipaddress module before any OS call.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OS Block Command: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Windows:  route add &lt;IP&gt; mask 255.255.255.255 192.0.2.1
Linux:      ip route add blackhole &lt;IP&gt;/32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Auto-Revert (60 s):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Daemon thread reverts block — false positives self-heal.
Protects against routing damage from incorrect decisions.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Duplicate Prevention: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IP marked in active_blocks before route command.
Concurrent threats for same IP serialised.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Safety Checks: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Refuses to block loopback (dashboard stays accessible).
Refuses to block multicast addresses.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577840" cy="22860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353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1353312"/>
            <a:ext cx="4818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Mitigation Status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828800"/>
            <a:ext cx="517550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PENDING  →  APPLIED  →  auto-revert 60 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PENDING  →  FAILED   →  removed (route error)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198 / 200 successful blocks in testing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2 failures: 1 routing lock, 1 invalid LLM cmd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Auto-revert: 60.02 ± 0.09 s (100 tests)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611880"/>
            <a:ext cx="5577840" cy="283464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3776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3776472"/>
            <a:ext cx="4818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Wireshark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251960"/>
            <a:ext cx="517550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b="1">
                <a:solidFill>
                  <a:srgbClr val="5BC8FF"/>
                </a:solidFill>
              </a:rPr>
              <a:t>Before block: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  Continuous attack traffic with signatures.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5BC8FF"/>
                </a:solidFill>
              </a:rPr>
              <a:t>After block: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  Zero packets from blocked IPs at target.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  100% traffic reduction confirmed.</a:t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5BC8FF"/>
                </a:solidFill>
              </a:rPr>
              <a:t>After auto-revert: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  Traffic resumes — revert mechanism correct.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99.96% Scapy ↔ Wireshark packet count agreement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Real-Time Web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8/14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Layer 5 — Flask + Socket.IO at http://localhost:5000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Packet Feed: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Last 50 packets, colour-coded by protocol.
Scrolling live table updated every 500 ms.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Threat History: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Last 10 ThreatEvents with full LLM reasoning
displayed inline for each detected attack.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Active Blocks: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Current blocked IPs with countdown timers
showing seconds until auto-revert.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Attack Injection: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Browser buttons launch test attacks:
ICMP | SYN | UDP | Port Scan | Frag | ALL</a:t>
            </a:r>
          </a:p>
          <a:p>
            <a:pPr>
              <a:spcBef>
                <a:spcPts val="700"/>
              </a:spcBef>
            </a:pPr>
            <a:r>
              <a:rPr sz="1400" b="1">
                <a:solidFill>
                  <a:srgbClr val="5BC8FF"/>
                </a:solidFill>
              </a:rPr>
              <a:t>• Controls:</a:t>
            </a:r>
          </a:p>
          <a:p>
            <a:pPr>
              <a:spcBef>
                <a:spcPts val="100"/>
              </a:spcBef>
            </a:pPr>
            <a:r>
              <a:rPr sz="1300">
                <a:solidFill>
                  <a:srgbClr val="FFFFFF"/>
                </a:solidFill>
              </a:rPr>
              <a:t>   Flush All Blocks — removes all active routes.
Shutdown — graceful exit, flushes all blocks.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234440"/>
            <a:ext cx="5577840" cy="2286000"/>
          </a:xfrm>
          <a:prstGeom prst="rect">
            <a:avLst/>
          </a:prstGeom>
          <a:solidFill>
            <a:srgbClr val="041022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2984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Socket.IO Events (real-time push)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64208"/>
            <a:ext cx="5303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packet_feed   — new packet batch (50 max)
threat_feed   — updated threat history
log_feed      — new system log lines
status_update — active blocks count + 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3657600"/>
            <a:ext cx="5577840" cy="1828800"/>
          </a:xfrm>
          <a:prstGeom prst="rect">
            <a:avLst/>
          </a:prstGeom>
          <a:solidFill>
            <a:srgbClr val="041022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721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BC8FF"/>
                </a:solidFill>
              </a:rPr>
              <a:t>REST API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069080"/>
            <a:ext cx="5303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GET  /api/status    — blocks, threats, queue size
POST /api/attack    — launch test attack
POST /api/flush     — remove all active blocks
POST /api/shutdown  — graceful system exit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5577840"/>
            <a:ext cx="5577840" cy="105156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5742432"/>
            <a:ext cx="517550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Background emitter thread: reads shared_state every 500 ms → pushes to all browsers via WebSocket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Technical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9/14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Python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Python 3.10+
Scapy + Npcap (Windows)
/ libpcap (Linux)
Flask + Socket.IO
TinyLlama-1.1B via Ollama
OS routing commands
Wireshark for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4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Module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7 Python modules — 1,720 lines total
main.py         250 lines
shared_state.py  80 lines
network_sniffer 120 lines
attack_detector 350 lines
llm_analyzer    280 lines
mitigator       240 lines
attack_injector 400 lines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Queue-Based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Fault isolation:
  Each layer independent
Packet queue:   5,000 cap
Threat queue:   100 cap
UI log queue:   500 cap
5 s buffer @ 1,000 pps
Single-responsibility principle
throughout all modules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Experimental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10/14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End-to-End Response Time &amp; System Resource Usage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5303520" cy="34747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64792"/>
            <a:ext cx="4544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Pipeline Timing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40280"/>
            <a:ext cx="49011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Stage            Mean      Std      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Detection        0.25 s    0.12 s   8.7%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LLM Analysis     2.46 s    0.35 s  85.4%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Mitigation       0.17 s    0.04 s   5.9%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────────────────────────────────────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Total            2.88 s    0.41 s  100%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250" b="1">
                <a:solidFill>
                  <a:srgbClr val="5BC8FF"/>
                </a:solidFill>
              </a:rPr>
              <a:t>LLM dominates at 85.4%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</a:rPr>
              <a:t>Still 2.88 s vs. 5–30 min for human analysts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00200"/>
            <a:ext cx="6035040" cy="34747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7647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764792"/>
            <a:ext cx="52760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System Resource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240280"/>
            <a:ext cx="563270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CPU Usage: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Idle:  2.1%  |  Under attack: 14.7%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Peak (multi-vector): 28.3%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Memory: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Idle:  87 MB  |  Peak: 149 MB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Packet Queue Depth: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Idle:  0  |  Under attack: 450 avg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Peak: 1,200  (well within 5,000 cap)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Suitable for lightweight embedded appliances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5230368"/>
            <a:ext cx="2743200" cy="1417320"/>
          </a:xfrm>
          <a:prstGeom prst="rect">
            <a:avLst/>
          </a:prstGeom>
          <a:solidFill>
            <a:srgbClr val="081A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52852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BC8FF"/>
                </a:solidFill>
              </a:rPr>
              <a:t>&lt;1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961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Attack Detection
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230368"/>
            <a:ext cx="2743200" cy="1417320"/>
          </a:xfrm>
          <a:prstGeom prst="rect">
            <a:avLst/>
          </a:prstGeom>
          <a:solidFill>
            <a:srgbClr val="081A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2852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BC8FF"/>
                </a:solidFill>
              </a:rP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961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Blocking
Success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5230368"/>
            <a:ext cx="2743200" cy="1417320"/>
          </a:xfrm>
          <a:prstGeom prst="rect">
            <a:avLst/>
          </a:prstGeom>
          <a:solidFill>
            <a:srgbClr val="081A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2852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BC8FF"/>
                </a:solidFill>
              </a:rPr>
              <a:t>0.01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961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False Positive
Rate (&lt;)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5230368"/>
            <a:ext cx="2743200" cy="1417320"/>
          </a:xfrm>
          <a:prstGeom prst="rect">
            <a:avLst/>
          </a:prstGeom>
          <a:solidFill>
            <a:srgbClr val="081A38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5285232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BC8FF"/>
                </a:solidFill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9618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Traffic Reduction
After Block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Wireshark Validation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11/14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Ground-Truth Verification Across All Five Attack Types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5303520" cy="498348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737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737360"/>
            <a:ext cx="45445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10-Step Validation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212848"/>
            <a:ext cx="490118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1.  Launch Wireshark with capture filters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2.  Start Network Guardian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3.  Initiate attack from attack_injector.py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4.  Observe real-time capture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5.  Apply attack-specific Wireshark filters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6.  Confirm detection triggers in dashboard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7.  Validate LLM explanation accuracy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8.  Verify block via routing table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9.  Confirm traffic cessation in Wireshark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10. Wait 60 s — verify auto-revert correct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57276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</a:rPr>
              <a:t>Packet Count Agreement (5 × 10-minute sessions)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965960"/>
            <a:ext cx="914400" cy="429768"/>
          </a:xfrm>
          <a:prstGeom prst="rect">
            <a:avLst/>
          </a:prstGeom>
          <a:solidFill>
            <a:srgbClr val="0D345C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8736" y="203911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Session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65960"/>
            <a:ext cx="1234440" cy="429768"/>
          </a:xfrm>
          <a:prstGeom prst="rect">
            <a:avLst/>
          </a:prstGeom>
          <a:solidFill>
            <a:srgbClr val="0D345C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03911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Scapy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1965960"/>
            <a:ext cx="1325880" cy="429768"/>
          </a:xfrm>
          <a:prstGeom prst="rect">
            <a:avLst/>
          </a:prstGeom>
          <a:solidFill>
            <a:srgbClr val="0D345C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7576" y="2039112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Wireshark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965960"/>
            <a:ext cx="1325880" cy="429768"/>
          </a:xfrm>
          <a:prstGeom prst="rect">
            <a:avLst/>
          </a:prstGeom>
          <a:solidFill>
            <a:srgbClr val="0D345C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2039112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Agreement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2404872"/>
            <a:ext cx="91440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88736" y="247802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2404872"/>
            <a:ext cx="123444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47802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12,487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404872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37576" y="2478024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12,483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404872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6" y="2478024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C8FF"/>
                </a:solidFill>
              </a:rPr>
              <a:t>99.97%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843784"/>
            <a:ext cx="91440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88736" y="2916936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843784"/>
            <a:ext cx="123444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2916936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18,923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2843784"/>
            <a:ext cx="13258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37576" y="2916936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18,915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843784"/>
            <a:ext cx="13258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63456" y="2916936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C8FF"/>
                </a:solidFill>
              </a:rPr>
              <a:t>99.96%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3282696"/>
            <a:ext cx="91440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88736" y="3355848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3282696"/>
            <a:ext cx="123444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03136" y="3355848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 9,456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3282696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37576" y="3355848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 9,452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282696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3355848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C8FF"/>
                </a:solidFill>
              </a:rPr>
              <a:t>99.96%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52160" y="3721608"/>
            <a:ext cx="91440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88736" y="3794760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66560" y="3721608"/>
            <a:ext cx="123444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3794760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15,234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3721608"/>
            <a:ext cx="13258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37576" y="3794760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15,229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721608"/>
            <a:ext cx="1325880" cy="42976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63456" y="3794760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C8FF"/>
                </a:solidFill>
              </a:rPr>
              <a:t>99.97%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4160520"/>
            <a:ext cx="91440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88736" y="4233672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4160520"/>
            <a:ext cx="123444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03136" y="4233672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20,891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01000" y="4160520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7576" y="4233672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20,881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4160520"/>
            <a:ext cx="1325880" cy="42976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63456" y="4233672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BC8FF"/>
                </a:solidFill>
              </a:rPr>
              <a:t>99.95%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4599432"/>
            <a:ext cx="914400" cy="429768"/>
          </a:xfrm>
          <a:prstGeom prst="rect">
            <a:avLst/>
          </a:prstGeom>
          <a:solidFill>
            <a:srgbClr val="0A2545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88736" y="4672584"/>
            <a:ext cx="8412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Mean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4599432"/>
            <a:ext cx="1234440" cy="429768"/>
          </a:xfrm>
          <a:prstGeom prst="rect">
            <a:avLst/>
          </a:prstGeom>
          <a:solidFill>
            <a:srgbClr val="0A2545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03136" y="4672584"/>
            <a:ext cx="116128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01000" y="4599432"/>
            <a:ext cx="1325880" cy="429768"/>
          </a:xfrm>
          <a:prstGeom prst="rect">
            <a:avLst/>
          </a:prstGeom>
          <a:solidFill>
            <a:srgbClr val="0A2545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37576" y="4672584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326880" y="4599432"/>
            <a:ext cx="1325880" cy="429768"/>
          </a:xfrm>
          <a:prstGeom prst="rect">
            <a:avLst/>
          </a:prstGeom>
          <a:solidFill>
            <a:srgbClr val="0A2545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63456" y="4672584"/>
            <a:ext cx="1252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99.96%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852160" y="5047488"/>
            <a:ext cx="5989320" cy="1508760"/>
          </a:xfrm>
          <a:prstGeom prst="rect">
            <a:avLst/>
          </a:prstGeom>
          <a:solidFill>
            <a:srgbClr val="041022"/>
          </a:solidFill>
          <a:ln w="1524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89320" y="510235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BC8FF"/>
                </a:solidFill>
              </a:rPr>
              <a:t>Wireshark Filters Used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89320" y="5440680"/>
            <a:ext cx="5669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ICMP Flood:   icmp.type==8
SYN Flood:    tcp.flags.syn==1 &amp;&amp; tcp.flags.ack==0
Port Scan:    tcp.flags.syn==1  (unique dst ports)
Fragmentation: ip.flags.mf==1 || ip.frag_offset&gt;0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Comparison with Existing Approaches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12/14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Network Guardian vs. Prior Intrusion Detection Systems  (Table VI of paper)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27632"/>
            <a:ext cx="192024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0078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80" y="1627632"/>
            <a:ext cx="196596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170078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Detection Basis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627632"/>
            <a:ext cx="196596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700784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Explainability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27632"/>
            <a:ext cx="1828800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007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Auto Mitigation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627632"/>
            <a:ext cx="1874519" cy="457200"/>
          </a:xfrm>
          <a:prstGeom prst="rect">
            <a:avLst/>
          </a:prstGeom>
          <a:solidFill>
            <a:srgbClr val="0D345C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0784"/>
            <a:ext cx="1783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BC8FF"/>
                </a:solidFill>
              </a:rPr>
              <a:t>Response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084832"/>
            <a:ext cx="192024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" y="2176272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BC8FF"/>
                </a:solidFill>
              </a:rPr>
              <a:t>Snort [11]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2084832"/>
            <a:ext cx="196596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95144" y="2176272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Static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84832"/>
            <a:ext cx="196596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176272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084832"/>
            <a:ext cx="182880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27064" y="2176272"/>
            <a:ext cx="1719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2084832"/>
            <a:ext cx="1874519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4" y="2176272"/>
            <a:ext cx="1764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 (minutes)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834640"/>
            <a:ext cx="192024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2926080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BC8FF"/>
                </a:solidFill>
              </a:rPr>
              <a:t>Anomaly IDS [12]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2834640"/>
            <a:ext cx="196596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95144" y="2926080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Behaviour 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2834640"/>
            <a:ext cx="196596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61104" y="2926080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834640"/>
            <a:ext cx="182880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7064" y="2926080"/>
            <a:ext cx="1719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1000" y="2834640"/>
            <a:ext cx="1874519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55864" y="2926080"/>
            <a:ext cx="1764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 (minutes)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584448"/>
            <a:ext cx="192024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675888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BC8FF"/>
                </a:solidFill>
              </a:rPr>
              <a:t>DNN/ML IDS [13]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40280" y="3584448"/>
            <a:ext cx="196596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95144" y="3675888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Deep learning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06240" y="3584448"/>
            <a:ext cx="196596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61104" y="3675888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None (black box)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584448"/>
            <a:ext cx="1828800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7064" y="3675888"/>
            <a:ext cx="1719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3584448"/>
            <a:ext cx="1874519" cy="749808"/>
          </a:xfrm>
          <a:prstGeom prst="rect">
            <a:avLst/>
          </a:prstGeom>
          <a:solidFill>
            <a:srgbClr val="0E204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55864" y="3675888"/>
            <a:ext cx="1764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 (minutes)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334256"/>
            <a:ext cx="192024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4904" y="4425696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5BC8FF"/>
                </a:solidFill>
              </a:rPr>
              <a:t>LIME / SHAP [14,15]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40280" y="4334256"/>
            <a:ext cx="196596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95144" y="4425696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Post-hoc ML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334256"/>
            <a:ext cx="196596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425696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Technical only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334256"/>
            <a:ext cx="1828800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27064" y="4425696"/>
            <a:ext cx="1719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01000" y="4334256"/>
            <a:ext cx="1874519" cy="749808"/>
          </a:xfrm>
          <a:prstGeom prst="rect">
            <a:avLst/>
          </a:prstGeom>
          <a:solidFill>
            <a:srgbClr val="081830"/>
          </a:solidFill>
          <a:ln w="1016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55864" y="4425696"/>
            <a:ext cx="1764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FFFF"/>
                </a:solidFill>
              </a:rPr>
              <a:t>Manual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5084064"/>
            <a:ext cx="1920240" cy="74980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" y="5175504"/>
            <a:ext cx="18105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5BC8FF"/>
                </a:solidFill>
              </a:rPr>
              <a:t>Network Guardian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40280" y="5084064"/>
            <a:ext cx="1965960" cy="74980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295144" y="5175504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0FF80"/>
                </a:solidFill>
              </a:rPr>
              <a:t>Sliding window + LLM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06240" y="5084064"/>
            <a:ext cx="1965960" cy="74980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61104" y="5175504"/>
            <a:ext cx="1856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0FF80"/>
                </a:solidFill>
              </a:rPr>
              <a:t>Plain English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5084064"/>
            <a:ext cx="1828800" cy="74980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227064" y="5175504"/>
            <a:ext cx="17190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0FF80"/>
                </a:solidFill>
              </a:rPr>
              <a:t>Yes (60 s revert)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01000" y="5084064"/>
            <a:ext cx="1874519" cy="749808"/>
          </a:xfrm>
          <a:prstGeom prst="rect">
            <a:avLst/>
          </a:prstGeom>
          <a:solidFill>
            <a:srgbClr val="052818"/>
          </a:solidFill>
          <a:ln w="25400">
            <a:solidFill>
              <a:srgbClr val="00F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55864" y="5175504"/>
            <a:ext cx="176479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80FF80"/>
                </a:solidFill>
              </a:rPr>
              <a:t>2.88 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040" y="63825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80FF80"/>
                </a:solidFill>
              </a:rPr>
              <a:t>Network Guardian (highlighted green) uniquely combines deterministic sub-second detection + plain-English LLM explanations + autonomous mitigation.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38BDF8"/>
                </a:solidFill>
              </a:rPr>
              <a:t>Challenges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430000" cy="41148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13/14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Technical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LLM response randomness:
~2% of responses had formatting issues.
Solved with exponential backoff + retry.
CPU-only inference: 2.46 s per explanation.
GPU deployment would reduce to &lt; 0.5 s.
Adversarial disinformation evolves rapidly
— threshold-based detection may need
continuous recalibration.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2624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Ethical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Risk of false positives permanently
blocking legitimate traffic (mitigated
by 60 s auto-revert).
LLM explanations are AI-generated —
should not replace human judgment
for critical decisions.
Balancing autonomous action with
human oversight in production.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4" y="1371600"/>
            <a:ext cx="3566160" cy="484632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9056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6256" y="1536192"/>
            <a:ext cx="2807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011680"/>
            <a:ext cx="316382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Currently tested on local loopback only
(RFC 5737 TEST-NET source IPs).
Single-host deployment — no distributed
or multi-network support yet.
IPv6 not yet supported (Scapy filter
and route commands are IPv4 only).
Five attack types only — DNS amp,
HTTP slowloris not yet covered.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8BDF8"/>
                </a:solidFill>
              </a:rPr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87552"/>
            <a:ext cx="11430000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685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CBD5E1"/>
                </a:solidFill>
              </a:rPr>
              <a:t>14/14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307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307592"/>
            <a:ext cx="4818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1783080"/>
            <a:ext cx="517550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Network Guardian demonstrates that integrating Local LLMs into network security is feasible and valuable.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Detects attacks in &lt; 1 second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Explains them in 2.5 seconds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Blocks in 0.17 seconds with 60 s auto-revert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99% blocking success rate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&lt; 0.01 false positive rate over 100 hours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99.96% Wireshark validation agreement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✓  100% user comprehension of AI explanations
    vs. &lt; 30% for raw technical alerts</a:t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50" b="0">
                <a:solidFill>
                  <a:srgbClr val="FFFFFF"/>
                </a:solidFill>
              </a:rPr>
              <a:t>Makes advanced security accessible to non-experts.
Valuable educational tool for learning attack
patterns through AI-generated explanations.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43000"/>
            <a:ext cx="5760720" cy="5486400"/>
          </a:xfrm>
          <a:solidFill>
            <a:srgbClr val="0E2040"/>
          </a:solidFill>
          <a:ln w="22860">
            <a:solidFill>
              <a:srgbClr val="1E88E5"/>
            </a:solidFill>
          </a:ln>
          <a:prstGeom prst="roundRect">
            <a:avLst>
              <a:gd name="adj" fmla="val 3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3075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BC8FF"/>
                </a:solidFill>
              </a:rPr>
              <a:t>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307592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BC8FF"/>
                </a:solidFill>
              </a:rPr>
              <a:t>Future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783080"/>
            <a:ext cx="535838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GPU-Accelerated LLM: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Llama-3 / Mistral on GPU → &lt; 0.5 s analysis.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Adaptive Thresholds: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EWMA + Bayesian methods for dynamic
  traffic baseline recalibration.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Multi-Host Deployment: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Distributed agents with centralised control.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SIEM Integration: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Export ThreatEvents to Elasticsearch / Splunk.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Threat Intelligence Feeds: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VirusTotal + MITRE ATT&amp;CK + PostgreSQL.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5BC8FF"/>
                </a:solidFill>
              </a:rPr>
              <a:t>Extended Attack Coverage: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  DNS amplification, HTTP slowloris,
  multiple LLM workers for parallelism.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182880"/>
            <a:ext cx="109728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21440" y="182880"/>
            <a:ext cx="109728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92240"/>
            <a:ext cx="109728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521440" y="6492240"/>
            <a:ext cx="109728" cy="109728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74320"/>
            <a:ext cx="11548872" cy="6309360"/>
          </a:xfrm>
          <a:prstGeom prst="rect">
            <a:avLst/>
          </a:prstGeom>
          <a:solidFill>
            <a:srgbClr val="0A1628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731520"/>
            <a:ext cx="39593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38BDF8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89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CBD5E1"/>
                </a:solidFill>
              </a:rPr>
              <a:t>Thank you for your attention.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074920"/>
            <a:ext cx="7616952" cy="36576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Arya Y P  |  Adi Narayan Prasad G  |  Ashrith S Jain  |  Abhishek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</a:rPr>
              <a:t>Department of ISE  |  B.M.S. College of Engineering,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