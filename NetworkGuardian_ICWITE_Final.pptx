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54680"/>
            <a:ext cx="12188952" cy="16459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g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457200"/>
            <a:ext cx="3959352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109728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Network Guardian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8BDF8"/>
                </a:solidFill>
              </a:rPr>
              <a:t>An Intelligent System That Automatically Protects Computer Networks
from Attacks Using Artificial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42900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5BC8FF"/>
                </a:solidFill>
              </a:rPr>
              <a:t>Arya Y P  |  Adi Narayan Prasad G  |  Ashrith S Jain  |  Abhishek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9136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Under the Guidance of  Prof. Nalina 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315968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</a:rPr>
              <a:t>Department of Information Science &amp; Engineering
B.M.S. College of Engineering, Bengaluru – 560019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5010912"/>
            <a:ext cx="5056632" cy="594360"/>
          </a:xfrm>
          <a:solidFill>
            <a:srgbClr val="0E2040"/>
          </a:solidFill>
          <a:ln w="19050">
            <a:solidFill>
              <a:srgbClr val="1E88E5"/>
            </a:solidFill>
          </a:ln>
          <a:prstGeom prst="roundRect">
            <a:avLst>
              <a:gd name="adj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5102352"/>
            <a:ext cx="4965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BC8FF"/>
                </a:solidFill>
              </a:rPr>
              <a:t>ICWITE 2026 — Accepted Paper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715000"/>
            <a:ext cx="3639312" cy="1005840"/>
          </a:xfrm>
          <a:prstGeom prst="rect">
            <a:avLst/>
          </a:prstGeom>
          <a:solidFill>
            <a:srgbClr val="081835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742432"/>
            <a:ext cx="34564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5BC8FF"/>
                </a:solidFill>
              </a:rPr>
              <a:t>&lt;1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72784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Attack Detection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87951" y="5715000"/>
            <a:ext cx="3639312" cy="1005840"/>
          </a:xfrm>
          <a:prstGeom prst="rect">
            <a:avLst/>
          </a:prstGeom>
          <a:solidFill>
            <a:srgbClr val="081835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9391" y="5742432"/>
            <a:ext cx="34564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5BC8FF"/>
                </a:solidFill>
              </a:rPr>
              <a:t>2.88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9391" y="6272784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Total Response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0142" y="5715000"/>
            <a:ext cx="3639312" cy="1005840"/>
          </a:xfrm>
          <a:prstGeom prst="rect">
            <a:avLst/>
          </a:prstGeom>
          <a:solidFill>
            <a:srgbClr val="081835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1582" y="5742432"/>
            <a:ext cx="34564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5BC8FF"/>
                </a:solidFill>
              </a:rPr>
              <a:t>99%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1582" y="6272784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Blocking Success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8BDF8"/>
                </a:solidFill>
              </a:rPr>
              <a:t>The Cybersecurity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11430000" cy="36576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</a:rPr>
              <a:t>2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78992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The Modern Network Threat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5852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5BC8FF"/>
                </a:solidFill>
              </a:rPr>
              <a:t>• Cryptic Alerts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FFFFFF"/>
                </a:solidFill>
              </a:rPr>
              <a:t>   IDS shows "ICMP flood from 192.168.1.50 at 150 pps" — no context.
   Non-experts cannot act on raw technical messages.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5BC8FF"/>
                </a:solidFill>
              </a:rPr>
              <a:t>• Alert Fatigue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FFFFFF"/>
                </a:solidFill>
              </a:rPr>
              <a:t>   Systems generate thousands of alerts daily. Security teams
   become desensitized and miss critical threats. [2]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5BC8FF"/>
                </a:solidFill>
              </a:rPr>
              <a:t>• Manual Response Too Slow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FFFFFF"/>
                </a:solidFill>
              </a:rPr>
              <a:t>   Attacks execute in milliseconds. Average breach detection: 207 days.
   Containment adds 73 more days. [1]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5BC8FF"/>
                </a:solidFill>
              </a:rPr>
              <a:t>• Cybersecurity Skills Gap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FFFFFF"/>
                </a:solidFill>
              </a:rPr>
              <a:t>   Organizations lack trained personnel to interpret alerts
   and respond appropriately under pressure.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078992"/>
            <a:ext cx="5349240" cy="320040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170432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C8FF"/>
                </a:solidFill>
              </a:rPr>
              <a:t>Why We Need Network Guardian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627632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✓  Detects attacks in &lt; 1 second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✓  Generates plain-English AI explanations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✓  Autonomously blocks attacker IPs via OS route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✓  60-second auto-revert — false positives self-heal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✓  99.96% Wireshark validation agreement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✓  100% user comprehension vs &lt;30% for raw alerts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✓  Accessible to non-security-expert operators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4370832"/>
            <a:ext cx="5349240" cy="1444752"/>
          </a:xfrm>
          <a:solidFill>
            <a:srgbClr val="081835"/>
          </a:solidFill>
          <a:ln w="19050">
            <a:solidFill>
              <a:srgbClr val="1E88E5"/>
            </a:solidFill>
          </a:ln>
          <a:prstGeom prst="roundRect">
            <a:avLst>
              <a:gd name="adj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44622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C8FF"/>
                </a:solidFill>
              </a:rPr>
              <a:t>Research Question: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8006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Can a local LLM be integrated into a live packet-capture pipeline
to autonomously detect and mitigate network attacks with sub-second latency?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8BDF8"/>
                </a:solidFill>
              </a:rPr>
              <a:t>Related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11430000" cy="36576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Gap Analysis — Why existing systems are insufficient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</a:rPr>
              <a:t>3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44752"/>
            <a:ext cx="5349240" cy="1188720"/>
          </a:xfrm>
          <a:solidFill>
            <a:srgbClr val="0E2040"/>
          </a:solidFill>
          <a:ln w="19050">
            <a:solidFill>
              <a:srgbClr val="1E88E5"/>
            </a:solidFill>
          </a:ln>
          <a:prstGeom prst="roundRect">
            <a:avLst>
              <a:gd name="adj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53619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C8FF"/>
                </a:solidFill>
              </a:rPr>
              <a:t>Snort [11] — Signature-Based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901952"/>
            <a:ext cx="5074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Open-source rule-based detection. Cannot generalize to zero-day exploits
or novel attack variants. No explanations provided.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82512" y="1444752"/>
            <a:ext cx="5349240" cy="1188720"/>
          </a:xfrm>
          <a:solidFill>
            <a:srgbClr val="0E2040"/>
          </a:solidFill>
          <a:ln w="19050">
            <a:solidFill>
              <a:srgbClr val="1E88E5"/>
            </a:solidFill>
          </a:ln>
          <a:prstGeom prst="roundRect">
            <a:avLst>
              <a:gd name="adj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153619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C8FF"/>
                </a:solidFill>
              </a:rPr>
              <a:t>Anomaly IDS [12] — Behaviour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1901952"/>
            <a:ext cx="5074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Establishes traffic baselines and flags deviations. High false-positive
rate: 10–30%, making production deployment challenging.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43200"/>
            <a:ext cx="5349240" cy="1188720"/>
          </a:xfrm>
          <a:solidFill>
            <a:srgbClr val="0E2040"/>
          </a:solidFill>
          <a:ln w="19050">
            <a:solidFill>
              <a:srgbClr val="1E88E5"/>
            </a:solidFill>
          </a:ln>
          <a:prstGeom prst="roundRect">
            <a:avLst>
              <a:gd name="adj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283464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C8FF"/>
                </a:solidFill>
              </a:rPr>
              <a:t>DNN / ML IDS [13]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3200400"/>
            <a:ext cx="5074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Deep neural network classifiers achieve 95–99% accuracy on benchmarks.
However, black-box — no explanations, limiting trust.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82512" y="2743200"/>
            <a:ext cx="5349240" cy="1188720"/>
          </a:xfrm>
          <a:solidFill>
            <a:srgbClr val="0E2040"/>
          </a:solidFill>
          <a:ln w="19050">
            <a:solidFill>
              <a:srgbClr val="1E88E5"/>
            </a:solidFill>
          </a:ln>
          <a:prstGeom prst="roundRect">
            <a:avLst>
              <a:gd name="adj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83464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C8FF"/>
                </a:solidFill>
              </a:rPr>
              <a:t>LIME / SHAP [14,15]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3200400"/>
            <a:ext cx="5074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Post-hoc ML explanation methods. Technical output only — not accessible
to non-security-expert operators.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041648"/>
            <a:ext cx="5349240" cy="1188720"/>
          </a:xfrm>
          <a:solidFill>
            <a:srgbClr val="0E2040"/>
          </a:solidFill>
          <a:ln w="19050">
            <a:solidFill>
              <a:srgbClr val="1E88E5"/>
            </a:solidFill>
          </a:ln>
          <a:prstGeom prst="roundRect">
            <a:avLst>
              <a:gd name="adj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4133088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C8FF"/>
                </a:solidFill>
              </a:rPr>
              <a:t>LLM for Security [16]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" y="4498848"/>
            <a:ext cx="5074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Recent work explores LLMs for security tasks. Network Guardian
distinguishes itself: LLM for explanation, not detection.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82512" y="4041648"/>
            <a:ext cx="5349240" cy="1188720"/>
          </a:xfrm>
          <a:solidFill>
            <a:srgbClr val="0E2040"/>
          </a:solidFill>
          <a:ln w="19050">
            <a:solidFill>
              <a:srgbClr val="1E88E5"/>
            </a:solidFill>
          </a:ln>
          <a:prstGeom prst="roundRect">
            <a:avLst>
              <a:gd name="adj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4133088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C8FF"/>
                </a:solidFill>
              </a:rPr>
              <a:t>AI-Based IDS [18–24]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4498848"/>
            <a:ext cx="5074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KNN, Naive Bayes, SVM — effective on benchmarks but no single solution
covers all attack types or provides autonomous mitigation.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376672"/>
            <a:ext cx="11548872" cy="548640"/>
          </a:xfrm>
          <a:solidFill>
            <a:srgbClr val="052010"/>
          </a:solidFill>
          <a:ln w="19050">
            <a:solidFill>
              <a:srgbClr val="00FF80"/>
            </a:solidFill>
          </a:ln>
          <a:prstGeom prst="roundRect">
            <a:avLst>
              <a:gd name="adj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440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FF80"/>
                </a:solidFill>
              </a:rPr>
              <a:t>Gap Identified:  No existing system combines sub-second sliding-window detection + local LLM plain-English explanations + autonomous OS-level mitigation with auto-revert in a single lightweight Python pipeline.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38BDF8"/>
                </a:solidFill>
              </a:rPr>
              <a:t>Network Guardian Solution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11430000" cy="36576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</a:rPr>
              <a:t>4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170432"/>
            <a:ext cx="3749039" cy="548640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3502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BC8FF"/>
                </a:solidFill>
              </a:rPr>
              <a:t>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35024"/>
            <a:ext cx="299008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C8FF"/>
                </a:solidFill>
              </a:rPr>
              <a:t>Autonomous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810512"/>
            <a:ext cx="3346703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1300" b="0">
                <a:solidFill>
                  <a:srgbClr val="FFFFFF"/>
                </a:solidFill>
              </a:rPr>
              <a:t>Real-time monitoring of 5 attack types:
  • ICMP Flood   • SYN Flood   • UDP Flood
  • Port Scan    • IP Fragmentation
Sliding-window counters per source IP.
Sub-second detection latency (&lt;1 s).
Cooldown 60 s per (IP, attack type) pair.
&lt; 0.01 false-positive rate over 100 hours.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170432"/>
            <a:ext cx="3749039" cy="548640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33502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BC8FF"/>
                </a:solidFill>
              </a:rPr>
              <a:t>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335024"/>
            <a:ext cx="299008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C8FF"/>
                </a:solidFill>
              </a:rPr>
              <a:t>AI-Powered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1810512"/>
            <a:ext cx="3346703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1300" b="0">
                <a:solidFill>
                  <a:srgbClr val="FFFFFF"/>
                </a:solidFill>
              </a:rPr>
              <a:t>Locally hosted TinyLlama 1.1B via Ollama.
No cloud — private, offline, fast.
Structured JSON prompt → plain-English output:
  { "attack", "explanation", "mitigation" }
temperature=0.1 — near-deterministic.
94% first-attempt success rate.
Mean analysis time: 2.46 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47888" y="1170432"/>
            <a:ext cx="3749039" cy="548640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33502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BC8FF"/>
                </a:solidFill>
              </a:rP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1335024"/>
            <a:ext cx="299008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C8FF"/>
                </a:solidFill>
              </a:rPr>
              <a:t>Autonomous Mitigation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1810512"/>
            <a:ext cx="3346703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1300" b="0">
                <a:solidFill>
                  <a:srgbClr val="FFFFFF"/>
                </a:solidFill>
              </a:rPr>
              <a:t>OS-level route blocking:
  Windows: route add &lt;IP&gt; mask ... 192.0.2.1
  Linux:   ip route add blackhole &lt;IP&gt;/32
No shell=True — injection-proof.
IP validated before every command.
60-second auto-revert daemon thread.
99% blocking success (198/200 tests).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8BDF8"/>
                </a:solidFill>
              </a:rPr>
              <a:t>Proposed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11430000" cy="36576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5-Layer Modular Queue-Based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</a:rPr>
              <a:t>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5-Layer Modular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600" b="1">
                <a:solidFill>
                  <a:srgbClr val="5BC8FF"/>
                </a:solidFill>
              </a:rPr>
              <a:t>• Web Dashboard  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FFFFFF"/>
                </a:solidFill>
              </a:rPr>
              <a:t>   Flask+SocketIO real-time browser UI</a:t>
            </a:r>
          </a:p>
          <a:p>
            <a:pPr>
              <a:spcBef>
                <a:spcPts val="700"/>
              </a:spcBef>
            </a:pPr>
            <a:r>
              <a:rPr sz="1600" b="1">
                <a:solidFill>
                  <a:srgbClr val="5BC8FF"/>
                </a:solidFill>
              </a:rPr>
              <a:t>• Mitigator  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FFFFFF"/>
                </a:solidFill>
              </a:rPr>
              <a:t>   OS route block, 60 s auto-revert</a:t>
            </a:r>
          </a:p>
          <a:p>
            <a:pPr>
              <a:spcBef>
                <a:spcPts val="700"/>
              </a:spcBef>
            </a:pPr>
            <a:r>
              <a:rPr sz="1600" b="1">
                <a:solidFill>
                  <a:srgbClr val="5BC8FF"/>
                </a:solidFill>
              </a:rPr>
              <a:t>• LLM Analyzer  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FFFFFF"/>
                </a:solidFill>
              </a:rPr>
              <a:t>   TinyLlama explains threats in plain English</a:t>
            </a:r>
          </a:p>
          <a:p>
            <a:pPr>
              <a:spcBef>
                <a:spcPts val="700"/>
              </a:spcBef>
            </a:pPr>
            <a:r>
              <a:rPr sz="1600" b="1">
                <a:solidFill>
                  <a:srgbClr val="5BC8FF"/>
                </a:solidFill>
              </a:rPr>
              <a:t>• Attack Detector  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FFFFFF"/>
                </a:solidFill>
              </a:rPr>
              <a:t>   5 sliding-window detectors in parallel</a:t>
            </a:r>
          </a:p>
          <a:p>
            <a:pPr>
              <a:spcBef>
                <a:spcPts val="700"/>
              </a:spcBef>
            </a:pPr>
            <a:r>
              <a:rPr sz="1600" b="1">
                <a:solidFill>
                  <a:srgbClr val="5BC8FF"/>
                </a:solidFill>
              </a:rPr>
              <a:t>• Network Sniffer  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FFFFFF"/>
                </a:solidFill>
              </a:rPr>
              <a:t>   Scapy packet capture, metadata extraction</a:t>
            </a:r>
          </a:p>
        </p:txBody>
      </p:sp>
      <p:pic>
        <p:nvPicPr>
          <p:cNvPr id="9" name="Picture 8" descr="img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78992"/>
            <a:ext cx="5943600" cy="42062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0040" y="6035040"/>
            <a:ext cx="11548872" cy="621792"/>
          </a:xfrm>
          <a:prstGeom prst="rect">
            <a:avLst/>
          </a:prstGeom>
          <a:solidFill>
            <a:srgbClr val="051830"/>
          </a:solidFill>
          <a:ln w="1524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108192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BC8FF"/>
                </a:solidFill>
              </a:rPr>
              <a:t>Shared Queue Bus:  packet_queue (5000)  |  threat_queue (100)  |  ui_log_queue (500)  |  active_blocks dict  |  threat_history list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8BDF8"/>
                </a:solidFill>
              </a:rPr>
              <a:t>Attack Detection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11430000" cy="36576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Five independent sliding-window detectors — sub-second 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</a:rPr>
              <a:t>6 / 16</a:t>
            </a:r>
          </a:p>
        </p:txBody>
      </p:sp>
      <p:pic>
        <p:nvPicPr>
          <p:cNvPr id="7" name="Picture 6" descr="img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45720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0" y="117043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Detection Algorithm Parameters  (Table I of paper)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572768"/>
            <a:ext cx="1920240" cy="457200"/>
          </a:xfrm>
          <a:prstGeom prst="rect">
            <a:avLst/>
          </a:prstGeom>
          <a:solidFill>
            <a:srgbClr val="0D345C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16642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5BC8FF"/>
                </a:solidFill>
              </a:rPr>
              <a:t>Attack 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572768"/>
            <a:ext cx="1097280" cy="457200"/>
          </a:xfrm>
          <a:prstGeom prst="rect">
            <a:avLst/>
          </a:prstGeom>
          <a:solidFill>
            <a:srgbClr val="0D345C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166420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5BC8FF"/>
                </a:solidFill>
              </a:rPr>
              <a:t>Threshold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572768"/>
            <a:ext cx="1005840" cy="457200"/>
          </a:xfrm>
          <a:prstGeom prst="rect">
            <a:avLst/>
          </a:prstGeom>
          <a:solidFill>
            <a:srgbClr val="0D345C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66420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5BC8FF"/>
                </a:solidFill>
              </a:rPr>
              <a:t>Window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572768"/>
            <a:ext cx="1005840" cy="457200"/>
          </a:xfrm>
          <a:prstGeom prst="rect">
            <a:avLst/>
          </a:prstGeom>
          <a:solidFill>
            <a:srgbClr val="0D345C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66420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5BC8FF"/>
                </a:solidFill>
              </a:rPr>
              <a:t>Cooldown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2029968"/>
            <a:ext cx="1920240" cy="457200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21214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BC8FF"/>
                </a:solidFill>
              </a:rPr>
              <a:t>ICMP Flood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2029968"/>
            <a:ext cx="1097280" cy="457200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212140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20 pps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2029968"/>
            <a:ext cx="1005840" cy="457200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12140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1.0 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2029968"/>
            <a:ext cx="1005840" cy="457200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212140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60 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2487168"/>
            <a:ext cx="1920240" cy="457200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25786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BC8FF"/>
                </a:solidFill>
              </a:rPr>
              <a:t>SYN Flood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2487168"/>
            <a:ext cx="1097280" cy="457200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257860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20 pps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2487168"/>
            <a:ext cx="1005840" cy="457200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257860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1.0 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2560" y="2487168"/>
            <a:ext cx="1005840" cy="457200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98280" y="257860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60 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2944368"/>
            <a:ext cx="1920240" cy="457200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30358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BC8FF"/>
                </a:solidFill>
              </a:rPr>
              <a:t>UDP Flood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2944368"/>
            <a:ext cx="1097280" cy="457200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95160" y="303580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20 pps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2944368"/>
            <a:ext cx="1005840" cy="457200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2440" y="303580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1.0 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52560" y="2944368"/>
            <a:ext cx="1005840" cy="457200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98280" y="303580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60 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0" y="3401568"/>
            <a:ext cx="1920240" cy="457200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74920" y="34930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BC8FF"/>
                </a:solidFill>
              </a:rPr>
              <a:t>Port Scan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9440" y="3401568"/>
            <a:ext cx="1097280" cy="457200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5160" y="349300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10 ports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46720" y="3401568"/>
            <a:ext cx="1005840" cy="457200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92440" y="349300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5.0 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52560" y="3401568"/>
            <a:ext cx="1005840" cy="457200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98280" y="349300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60 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0" y="3858768"/>
            <a:ext cx="1920240" cy="457200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74920" y="39502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BC8FF"/>
                </a:solidFill>
              </a:rPr>
              <a:t>IP Fragmentation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49440" y="3858768"/>
            <a:ext cx="1097280" cy="457200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95160" y="395020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10 pps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46720" y="3858768"/>
            <a:ext cx="1005840" cy="457200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92440" y="395020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1.0 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52560" y="3858768"/>
            <a:ext cx="1005840" cy="457200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98280" y="395020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60 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0" y="404164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Detection Latency Results  (Table IV)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0" y="4407408"/>
            <a:ext cx="1371600" cy="411480"/>
          </a:xfrm>
          <a:prstGeom prst="rect">
            <a:avLst/>
          </a:prstGeom>
          <a:solidFill>
            <a:srgbClr val="05255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65776" y="4480560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BC8FF"/>
                </a:solidFill>
              </a:rPr>
              <a:t>Attack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4407408"/>
            <a:ext cx="1078992" cy="411480"/>
          </a:xfrm>
          <a:prstGeom prst="rect">
            <a:avLst/>
          </a:prstGeom>
          <a:solidFill>
            <a:srgbClr val="05255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37376" y="44805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BC8FF"/>
                </a:solidFill>
              </a:rPr>
              <a:t>Min (s)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79792" y="4407408"/>
            <a:ext cx="1115568" cy="411480"/>
          </a:xfrm>
          <a:prstGeom prst="rect">
            <a:avLst/>
          </a:prstGeom>
          <a:solidFill>
            <a:srgbClr val="05255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16368" y="4480560"/>
            <a:ext cx="1042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BC8FF"/>
                </a:solidFill>
              </a:rPr>
              <a:t>Mean (s)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95360" y="4407408"/>
            <a:ext cx="1051560" cy="411480"/>
          </a:xfrm>
          <a:prstGeom prst="rect">
            <a:avLst/>
          </a:prstGeom>
          <a:solidFill>
            <a:srgbClr val="05255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31936" y="4480560"/>
            <a:ext cx="978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BC8FF"/>
                </a:solidFill>
              </a:rPr>
              <a:t>Max (s)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0" y="4818888"/>
            <a:ext cx="1371600" cy="411480"/>
          </a:xfrm>
          <a:prstGeom prst="rect">
            <a:avLst/>
          </a:prstGeom>
          <a:solidFill>
            <a:srgbClr val="0E204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65776" y="4892040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BC8FF"/>
                </a:solidFill>
              </a:rPr>
              <a:t>ICMP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00800" y="4818888"/>
            <a:ext cx="1078992" cy="411480"/>
          </a:xfrm>
          <a:prstGeom prst="rect">
            <a:avLst/>
          </a:prstGeom>
          <a:solidFill>
            <a:srgbClr val="0E204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37376" y="48920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0.11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479792" y="4818888"/>
            <a:ext cx="1115568" cy="411480"/>
          </a:xfrm>
          <a:prstGeom prst="rect">
            <a:avLst/>
          </a:prstGeom>
          <a:solidFill>
            <a:srgbClr val="0E204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16368" y="4892040"/>
            <a:ext cx="1042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0.14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95360" y="4818888"/>
            <a:ext cx="1051560" cy="411480"/>
          </a:xfrm>
          <a:prstGeom prst="rect">
            <a:avLst/>
          </a:prstGeom>
          <a:solidFill>
            <a:srgbClr val="0E204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31936" y="4892040"/>
            <a:ext cx="978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0.19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0" y="5230368"/>
            <a:ext cx="1371600" cy="411480"/>
          </a:xfrm>
          <a:prstGeom prst="rect">
            <a:avLst/>
          </a:prstGeom>
          <a:solidFill>
            <a:srgbClr val="08183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65776" y="5303520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BC8FF"/>
                </a:solidFill>
              </a:rPr>
              <a:t>SYN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00800" y="5230368"/>
            <a:ext cx="1078992" cy="411480"/>
          </a:xfrm>
          <a:prstGeom prst="rect">
            <a:avLst/>
          </a:prstGeom>
          <a:solidFill>
            <a:srgbClr val="08183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37376" y="5303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0.23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79792" y="5230368"/>
            <a:ext cx="1115568" cy="411480"/>
          </a:xfrm>
          <a:prstGeom prst="rect">
            <a:avLst/>
          </a:prstGeom>
          <a:solidFill>
            <a:srgbClr val="08183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516368" y="5303520"/>
            <a:ext cx="1042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0.27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595360" y="5230368"/>
            <a:ext cx="1051560" cy="411480"/>
          </a:xfrm>
          <a:prstGeom prst="rect">
            <a:avLst/>
          </a:prstGeom>
          <a:solidFill>
            <a:srgbClr val="08183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31936" y="5303520"/>
            <a:ext cx="978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0.34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029200" y="5641848"/>
            <a:ext cx="1371600" cy="411480"/>
          </a:xfrm>
          <a:prstGeom prst="rect">
            <a:avLst/>
          </a:prstGeom>
          <a:solidFill>
            <a:srgbClr val="0E204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065776" y="5715000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BC8FF"/>
                </a:solidFill>
              </a:rPr>
              <a:t>UDP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400800" y="5641848"/>
            <a:ext cx="1078992" cy="411480"/>
          </a:xfrm>
          <a:prstGeom prst="rect">
            <a:avLst/>
          </a:prstGeom>
          <a:solidFill>
            <a:srgbClr val="0E204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37376" y="57150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0.12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479792" y="5641848"/>
            <a:ext cx="1115568" cy="411480"/>
          </a:xfrm>
          <a:prstGeom prst="rect">
            <a:avLst/>
          </a:prstGeom>
          <a:solidFill>
            <a:srgbClr val="0E204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516368" y="5715000"/>
            <a:ext cx="1042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0.15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595360" y="5641848"/>
            <a:ext cx="1051560" cy="411480"/>
          </a:xfrm>
          <a:prstGeom prst="rect">
            <a:avLst/>
          </a:prstGeom>
          <a:solidFill>
            <a:srgbClr val="0E204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631936" y="5715000"/>
            <a:ext cx="978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0.21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29200" y="6053328"/>
            <a:ext cx="1371600" cy="411480"/>
          </a:xfrm>
          <a:prstGeom prst="rect">
            <a:avLst/>
          </a:prstGeom>
          <a:solidFill>
            <a:srgbClr val="08183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065776" y="6126480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BC8FF"/>
                </a:solidFill>
              </a:rPr>
              <a:t>Scan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400800" y="6053328"/>
            <a:ext cx="1078992" cy="411480"/>
          </a:xfrm>
          <a:prstGeom prst="rect">
            <a:avLst/>
          </a:prstGeom>
          <a:solidFill>
            <a:srgbClr val="08183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37376" y="61264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0.45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479792" y="6053328"/>
            <a:ext cx="1115568" cy="411480"/>
          </a:xfrm>
          <a:prstGeom prst="rect">
            <a:avLst/>
          </a:prstGeom>
          <a:solidFill>
            <a:srgbClr val="08183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16368" y="6126480"/>
            <a:ext cx="1042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0.51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95360" y="6053328"/>
            <a:ext cx="1051560" cy="411480"/>
          </a:xfrm>
          <a:prstGeom prst="rect">
            <a:avLst/>
          </a:prstGeom>
          <a:solidFill>
            <a:srgbClr val="08183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631936" y="6126480"/>
            <a:ext cx="978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0.62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029200" y="6464808"/>
            <a:ext cx="1371600" cy="411480"/>
          </a:xfrm>
          <a:prstGeom prst="rect">
            <a:avLst/>
          </a:prstGeom>
          <a:solidFill>
            <a:srgbClr val="0E204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65776" y="6537960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BC8FF"/>
                </a:solidFill>
              </a:rPr>
              <a:t>Frag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400800" y="6464808"/>
            <a:ext cx="1078992" cy="411480"/>
          </a:xfrm>
          <a:prstGeom prst="rect">
            <a:avLst/>
          </a:prstGeom>
          <a:solidFill>
            <a:srgbClr val="0E204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437376" y="65379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0.18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479792" y="6464808"/>
            <a:ext cx="1115568" cy="411480"/>
          </a:xfrm>
          <a:prstGeom prst="rect">
            <a:avLst/>
          </a:prstGeom>
          <a:solidFill>
            <a:srgbClr val="0E204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16368" y="6537960"/>
            <a:ext cx="1042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0.21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595360" y="6464808"/>
            <a:ext cx="1051560" cy="411480"/>
          </a:xfrm>
          <a:prstGeom prst="rect">
            <a:avLst/>
          </a:prstGeom>
          <a:solidFill>
            <a:srgbClr val="0E204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631936" y="6537960"/>
            <a:ext cx="978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0.27</a:t>
            </a:r>
          </a:p>
        </p:txBody>
      </p:sp>
      <p:pic>
        <p:nvPicPr>
          <p:cNvPr id="106" name="Picture 105" descr="img_attacks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5321808"/>
            <a:ext cx="685800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8BDF8"/>
                </a:solidFill>
              </a:rPr>
              <a:t>LLM Analyzer  —  AI-Powered Explanation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11430000" cy="36576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TinyLlama 1.1B via Ollama · Local · Private · No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</a:rPr>
              <a:t>7 / 16</a:t>
            </a:r>
          </a:p>
        </p:txBody>
      </p:sp>
      <p:pic>
        <p:nvPicPr>
          <p:cNvPr id="7" name="Picture 6" descr="img_neu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5029200" cy="3474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532120" y="1188720"/>
            <a:ext cx="6400800" cy="237744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96712" y="135331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BC8FF"/>
                </a:solidFill>
              </a:rP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3912" y="1353312"/>
            <a:ext cx="56418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C8FF"/>
                </a:solidFill>
              </a:rPr>
              <a:t>Key Design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3288" y="1828800"/>
            <a:ext cx="5998464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1250" b="0">
                <a:solidFill>
                  <a:srgbClr val="FFFFFF"/>
                </a:solidFill>
              </a:rPr>
              <a:t>• TinyLlama-1.1B via Ollama at localhost:11434</a:t>
            </a:r>
          </a:p>
          <a:p>
            <a:pPr>
              <a:spcBef>
                <a:spcPts val="350"/>
              </a:spcBef>
            </a:pPr>
            <a:r>
              <a:rPr sz="1250" b="0">
                <a:solidFill>
                  <a:srgbClr val="FFFFFF"/>
                </a:solidFill>
              </a:rPr>
              <a:t>• temperature=0.1  |  num_predict=200 (bounded)</a:t>
            </a:r>
          </a:p>
          <a:p>
            <a:pPr>
              <a:spcBef>
                <a:spcPts val="350"/>
              </a:spcBef>
            </a:pPr>
            <a:r>
              <a:rPr sz="1250" b="0">
                <a:solidFill>
                  <a:srgbClr val="FFFFFF"/>
                </a:solidFill>
              </a:rPr>
              <a:t>• 3-retry policy with 30 s timeout per attempt</a:t>
            </a:r>
          </a:p>
          <a:p>
            <a:pPr>
              <a:spcBef>
                <a:spcPts val="350"/>
              </a:spcBef>
            </a:pPr>
            <a:r>
              <a:rPr sz="1250" b="0">
                <a:solidFill>
                  <a:srgbClr val="FFFFFF"/>
                </a:solidFill>
              </a:rPr>
              <a:t>• Fallback reasoning if Ollama unreachable</a:t>
            </a:r>
          </a:p>
          <a:p>
            <a:pPr>
              <a:spcBef>
                <a:spcPts val="350"/>
              </a:spcBef>
            </a:pPr>
            <a:r>
              <a:rPr sz="1250" b="0">
                <a:solidFill>
                  <a:srgbClr val="FFFFFF"/>
                </a:solidFill>
              </a:rPr>
              <a:t>• IP hallucination guard — auto-corrects wrong IP</a:t>
            </a:r>
          </a:p>
          <a:p>
            <a:pPr>
              <a:spcBef>
                <a:spcPts val="350"/>
              </a:spcBef>
            </a:pPr>
            <a:r>
              <a:rPr sz="1250" b="0">
                <a:solidFill>
                  <a:srgbClr val="FFFFFF"/>
                </a:solidFill>
              </a:rPr>
              <a:t>• 94% first-attempt JSON success  |  Mean: 2.46 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32120" y="3675887"/>
            <a:ext cx="6400800" cy="2971800"/>
          </a:xfrm>
          <a:prstGeom prst="rect">
            <a:avLst/>
          </a:prstGeom>
          <a:solidFill>
            <a:srgbClr val="041022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3749039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C8FF"/>
                </a:solidFill>
              </a:rPr>
              <a:t>Prompt → Ollama → JSON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4114800"/>
            <a:ext cx="6126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FF80"/>
                </a:solidFill>
              </a:rPr>
              <a:t>INPUT:
  Source IP:  203.0.113.50
  Attack:     SYN Flood
  Count:      87 pps  (baseline &lt; 20 pps)
OUTPUT (JSON):
  "attack":      "SYN Flood"
  "explanation": "Attacker sends SYN packets without
                  completing handshake, exhausting TCP
                  connection queue of 128-512 slots."
  "mitigation":  "route add 203.0.113.50 mask
                  255.255.255.255 192.0.2.1"</a:t>
            </a:r>
          </a:p>
        </p:txBody>
      </p:sp>
      <p:pic>
        <p:nvPicPr>
          <p:cNvPr id="15" name="Picture 14" descr="img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828032"/>
            <a:ext cx="5029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8BDF8"/>
                </a:solidFill>
              </a:rPr>
              <a:t>Autonomous Mitigation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11430000" cy="36576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Security-first design — injection-proof OS-level route blocking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</a:rPr>
              <a:t>8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5BC8FF"/>
                </a:solidFill>
              </a:rPr>
              <a:t>• Command Injection Prevention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FFFFFF"/>
                </a:solidFill>
              </a:rPr>
              <a:t>   LLM output NEVER passed to shell=True.
   IP validated with Python ipaddress module before any OS call.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5BC8FF"/>
                </a:solidFill>
              </a:rPr>
              <a:t>• OS Block Command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FFFFFF"/>
                </a:solidFill>
              </a:rPr>
              <a:t>   Windows:  route add &lt;IP&gt; mask 255.255.255.255 192.0.2.1
   Linux:    ip route add blackhole &lt;IP&gt;/32
   Gateway 192.0.2.1 = RFC 5737 TEST-NET (unreachable blackhole).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5BC8FF"/>
                </a:solidFill>
              </a:rPr>
              <a:t>• Auto-Revert  (60 seconds)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FFFFFF"/>
                </a:solidFill>
              </a:rPr>
              <a:t>   Daemon thread sleeps 60 s → runs route delete.
   False positives self-heal — no permanent routing damage.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5BC8FF"/>
                </a:solidFill>
              </a:rPr>
              <a:t>• Safety Checks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FFFFFF"/>
                </a:solidFill>
              </a:rPr>
              <a:t>   Refuses to block loopback (dashboard stays accessible).
   Refuses to block multicast. subprocess.run(shell=False, timeout=10).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5BC8FF"/>
                </a:solidFill>
              </a:rPr>
              <a:t>• Duplicate Block Prevention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FFFFFF"/>
                </a:solidFill>
              </a:rPr>
              <a:t>   IP marked in active_blocks before route command.
   Concurrent threats for same IP serialised under lock.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486400" cy="205740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35331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BC8FF"/>
                </a:solidFill>
              </a:rPr>
              <a:t>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22592" y="1353312"/>
            <a:ext cx="4727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C8FF"/>
                </a:solidFill>
              </a:rPr>
              <a:t>Mitigation Status Lifecycle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828800"/>
            <a:ext cx="5084064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1300" b="0">
                <a:solidFill>
                  <a:srgbClr val="FFFFFF"/>
                </a:solidFill>
              </a:rPr>
              <a:t>PENDING  →  APPLIED  →  auto-revert 60 s</a:t>
            </a:r>
          </a:p>
          <a:p>
            <a:pPr>
              <a:spcBef>
                <a:spcPts val="350"/>
              </a:spcBef>
            </a:pPr>
            <a:r>
              <a:rPr sz="1300" b="0">
                <a:solidFill>
                  <a:srgbClr val="FFFFFF"/>
                </a:solidFill>
              </a:rPr>
              <a:t>PENDING  →  FAILED   →  removed (route error)</a:t>
            </a:r>
          </a:p>
          <a:p>
            <a:pPr>
              <a:spcBef>
                <a:spcPts val="35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50"/>
              </a:spcBef>
            </a:pPr>
            <a:r>
              <a:rPr sz="1300" b="0">
                <a:solidFill>
                  <a:srgbClr val="FFFFFF"/>
                </a:solidFill>
              </a:rPr>
              <a:t>198 / 200 successful blocks in testing</a:t>
            </a:r>
          </a:p>
          <a:p>
            <a:pPr>
              <a:spcBef>
                <a:spcPts val="350"/>
              </a:spcBef>
            </a:pPr>
            <a:r>
              <a:rPr sz="1300" b="0">
                <a:solidFill>
                  <a:srgbClr val="FFFFFF"/>
                </a:solidFill>
              </a:rPr>
              <a:t>Auto-revert: 60.02 ± 0.09 s (100 tests)</a:t>
            </a:r>
          </a:p>
          <a:p>
            <a:pPr>
              <a:spcBef>
                <a:spcPts val="350"/>
              </a:spcBef>
            </a:pPr>
            <a:r>
              <a:rPr sz="1300" b="0">
                <a:solidFill>
                  <a:srgbClr val="FFFFFF"/>
                </a:solidFill>
              </a:rPr>
              <a:t>100% traffic reduction verified by Wireshark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337560"/>
            <a:ext cx="5486400" cy="283464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350215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BC8FF"/>
                </a:solidFill>
              </a:rPr>
              <a:t>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3502152"/>
            <a:ext cx="4727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C8FF"/>
                </a:solidFill>
              </a:rPr>
              <a:t>Wireshark Block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3977640"/>
            <a:ext cx="5084064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1250" b="1">
                <a:solidFill>
                  <a:srgbClr val="5BC8FF"/>
                </a:solidFill>
              </a:rPr>
              <a:t>Before block:</a:t>
            </a:r>
          </a:p>
          <a:p>
            <a:pPr>
              <a:spcBef>
                <a:spcPts val="350"/>
              </a:spcBef>
            </a:pPr>
            <a:r>
              <a:rPr sz="1250" b="0">
                <a:solidFill>
                  <a:srgbClr val="FFFFFF"/>
                </a:solidFill>
              </a:rPr>
              <a:t>  Continuous attack traffic with signatures visible.</a:t>
            </a:r>
          </a:p>
          <a:p>
            <a:pPr>
              <a:spcBef>
                <a:spcPts val="350"/>
              </a:spcBef>
            </a:pPr>
            <a:r>
              <a:rPr sz="1250" b="1">
                <a:solidFill>
                  <a:srgbClr val="5BC8FF"/>
                </a:solidFill>
              </a:rPr>
              <a:t>After block:</a:t>
            </a:r>
          </a:p>
          <a:p>
            <a:pPr>
              <a:spcBef>
                <a:spcPts val="350"/>
              </a:spcBef>
            </a:pPr>
            <a:r>
              <a:rPr sz="1250" b="0">
                <a:solidFill>
                  <a:srgbClr val="FFFFFF"/>
                </a:solidFill>
              </a:rPr>
              <a:t>  Zero packets from blocked IP — 100% reduction.</a:t>
            </a:r>
          </a:p>
          <a:p>
            <a:pPr>
              <a:spcBef>
                <a:spcPts val="350"/>
              </a:spcBef>
            </a:pPr>
            <a:r>
              <a:rPr sz="1250" b="1">
                <a:solidFill>
                  <a:srgbClr val="5BC8FF"/>
                </a:solidFill>
              </a:rPr>
              <a:t>After auto-revert (60 s):</a:t>
            </a:r>
          </a:p>
          <a:p>
            <a:pPr>
              <a:spcBef>
                <a:spcPts val="350"/>
              </a:spcBef>
            </a:pPr>
            <a:r>
              <a:rPr sz="1250" b="0">
                <a:solidFill>
                  <a:srgbClr val="FFFFFF"/>
                </a:solidFill>
              </a:rPr>
              <a:t>  Traffic resumes — revert mechanism confirmed correct.</a:t>
            </a:r>
          </a:p>
          <a:p>
            <a:pPr>
              <a:spcBef>
                <a:spcPts val="350"/>
              </a:spcBef>
            </a:pPr>
            <a:r>
              <a:rPr sz="125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50"/>
              </a:spcBef>
            </a:pPr>
            <a:r>
              <a:rPr sz="1250" b="0">
                <a:solidFill>
                  <a:srgbClr val="FFFFFF"/>
                </a:solidFill>
              </a:rPr>
              <a:t>99.96% Scapy ↔ Wireshark packet count agreement</a:t>
            </a:r>
          </a:p>
          <a:p>
            <a:pPr>
              <a:spcBef>
                <a:spcPts val="350"/>
              </a:spcBef>
            </a:pPr>
            <a:r>
              <a:rPr sz="1250" b="0">
                <a:solidFill>
                  <a:srgbClr val="FFFFFF"/>
                </a:solidFill>
              </a:rPr>
              <a:t>across five 10-minute validation sessions.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8BDF8"/>
                </a:solidFill>
              </a:rPr>
              <a:t>Real-Time Web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11430000" cy="36576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Layer 5 — Flask + Socket.IO · http://localhost:5000 · Updates every 500 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</a:rPr>
              <a:t>9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5BC8FF"/>
                </a:solidFill>
              </a:rPr>
              <a:t>• Packet Feed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FFFFFF"/>
                </a:solidFill>
              </a:rPr>
              <a:t>   Last 50 packets, colour-coded by protocol (ICMP/TCP/UDP).
   Live scrolling table with timestamp.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5BC8FF"/>
                </a:solidFill>
              </a:rPr>
              <a:t>• Threat History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FFFFFF"/>
                </a:solidFill>
              </a:rPr>
              <a:t>   Last 10 ThreatEvents with full LLM reasoning displayed inline.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5BC8FF"/>
                </a:solidFill>
              </a:rPr>
              <a:t>• Active Blocks + Timers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FFFFFF"/>
                </a:solidFill>
              </a:rPr>
              <a:t>   Blocked IPs with countdown to 60-second auto-revert.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5BC8FF"/>
                </a:solidFill>
              </a:rPr>
              <a:t>• Attack Injection Buttons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FFFFFF"/>
                </a:solidFill>
              </a:rPr>
              <a:t>   Browser controls: ICMP | SYN | UDP | Port Scan | Frag | ALL.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5BC8FF"/>
                </a:solidFill>
              </a:rPr>
              <a:t>• Control Actions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FFFFFF"/>
                </a:solidFill>
              </a:rPr>
              <a:t>   Flush All Blocks — removes all active OS routes.
   Shutdown — graceful exit, flushes blocks.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669280" cy="2148840"/>
          </a:xfrm>
          <a:prstGeom prst="rect">
            <a:avLst/>
          </a:prstGeom>
          <a:solidFill>
            <a:srgbClr val="041022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26187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C8FF"/>
                </a:solidFill>
              </a:rPr>
              <a:t>Socket.IO Events (server → browser push)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27632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packet_feed    — new packet batch (up to 50)
threat_feed    — updated ThreatEvent list
log_feed       — new system log messages
status_update  — active_blocks count + IP 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401568"/>
            <a:ext cx="5669280" cy="1783080"/>
          </a:xfrm>
          <a:prstGeom prst="rect">
            <a:avLst/>
          </a:prstGeom>
          <a:solidFill>
            <a:srgbClr val="041022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4747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C8FF"/>
                </a:solidFill>
              </a:rPr>
              <a:t>REST API Endpoints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840480"/>
            <a:ext cx="539496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GET  /api/status    — blocks, threats, queue size
POST /api/attack    — launch test attack (rate capped 1000 pps)
POST /api/flush     — remove all active blocks
POST /api/shutdown  — graceful exit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5257800"/>
            <a:ext cx="5669280" cy="96012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5422392"/>
            <a:ext cx="52669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1200" b="0">
                <a:solidFill>
                  <a:srgbClr val="FFFFFF"/>
                </a:solidFill>
              </a:rPr>
              <a:t>Background emitter thread reads shared_state every 500 ms → pushes all 4 event types to connected browsers via WebSocket. Memory capped: 500 packets, 200 log lines, 10 threats.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8BDF8"/>
                </a:solidFill>
              </a:rPr>
              <a:t>Technical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11430000" cy="36576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</a:rPr>
              <a:t>10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170432"/>
            <a:ext cx="3749039" cy="548640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3502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BC8FF"/>
                </a:solidFill>
              </a:rPr>
              <a:t>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35024"/>
            <a:ext cx="299008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C8FF"/>
                </a:solidFill>
              </a:rPr>
              <a:t>Python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810512"/>
            <a:ext cx="3346703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1300" b="0">
                <a:solidFill>
                  <a:srgbClr val="FFFFFF"/>
                </a:solidFill>
              </a:rPr>
              <a:t>Language:      Python 3.10+
Packet capture: Scapy + Npcap (Win)
               libpcap (Linux)
LLM inference:  TinyLlama-1.1B
               via Ollama
Web framework:  Flask + Socket.IO
Mitigation:     OS routing commands
Validation:     Wireshark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170432"/>
            <a:ext cx="3749039" cy="548640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33502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BC8FF"/>
                </a:solidFill>
              </a:rPr>
              <a:t>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335024"/>
            <a:ext cx="299008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C8FF"/>
                </a:solidFill>
              </a:rPr>
              <a:t>Module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1810512"/>
            <a:ext cx="3346703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1300" b="0">
                <a:solidFill>
                  <a:srgbClr val="FFFFFF"/>
                </a:solidFill>
              </a:rPr>
              <a:t>7 modules — 1,720 lines total
main.py         250 lines
shared_state.py  80 lines
network_sniffer 120 lines
attack_detector 350 lines
llm_analyzer    280 lines
mitigator       240 lines
attack_injector 400 lines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47888" y="1170432"/>
            <a:ext cx="3749039" cy="548640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33502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BC8FF"/>
                </a:solidFill>
              </a:rPr>
              <a:t>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1335024"/>
            <a:ext cx="299008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C8FF"/>
                </a:solidFill>
              </a:rPr>
              <a:t>Queue-Based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1810512"/>
            <a:ext cx="3346703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1300" b="0">
                <a:solidFill>
                  <a:srgbClr val="FFFFFF"/>
                </a:solidFill>
              </a:rPr>
              <a:t>Fault isolation:
  Each layer fully independent
packet_queue   5,000 cap
threat_queue     100 cap
ui_log_queue     500 cap
5-second buffer @ 1,000 pps
Single-responsibility principle
throughout all 7 modules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8BDF8"/>
                </a:solidFill>
              </a:rPr>
              <a:t>Experimental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11430000" cy="36576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Tested on Windows 11 | Npcap loopback | TinyLlama CPU inference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</a:rPr>
              <a:t>11 / 16</a:t>
            </a:r>
          </a:p>
        </p:txBody>
      </p:sp>
      <p:pic>
        <p:nvPicPr>
          <p:cNvPr id="7" name="Picture 6" descr="img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046720" cy="38404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03920" y="1188720"/>
            <a:ext cx="3429000" cy="384048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68512" y="135331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BC8FF"/>
                </a:solidFill>
              </a:rP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25712" y="1353312"/>
            <a:ext cx="2670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C8FF"/>
                </a:solidFill>
              </a:rPr>
              <a:t>Key Numbers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5088" y="1828800"/>
            <a:ext cx="3026664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1250" b="1">
                <a:solidFill>
                  <a:srgbClr val="5BC8FF"/>
                </a:solidFill>
              </a:rPr>
              <a:t>Detection</a:t>
            </a:r>
          </a:p>
          <a:p>
            <a:pPr>
              <a:spcBef>
                <a:spcPts val="350"/>
              </a:spcBef>
            </a:pPr>
            <a:r>
              <a:rPr sz="1250" b="0">
                <a:solidFill>
                  <a:srgbClr val="FFFFFF"/>
                </a:solidFill>
              </a:rPr>
              <a:t>&lt; 1 second</a:t>
            </a:r>
          </a:p>
          <a:p>
            <a:pPr>
              <a:spcBef>
                <a:spcPts val="350"/>
              </a:spcBef>
            </a:pPr>
            <a:r>
              <a:rPr sz="125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50"/>
              </a:spcBef>
            </a:pPr>
            <a:r>
              <a:rPr sz="1250" b="1">
                <a:solidFill>
                  <a:srgbClr val="5BC8FF"/>
                </a:solidFill>
              </a:rPr>
              <a:t>LLM Analysis</a:t>
            </a:r>
          </a:p>
          <a:p>
            <a:pPr>
              <a:spcBef>
                <a:spcPts val="350"/>
              </a:spcBef>
            </a:pPr>
            <a:r>
              <a:rPr sz="1250" b="0">
                <a:solidFill>
                  <a:srgbClr val="FFFFFF"/>
                </a:solidFill>
              </a:rPr>
              <a:t>2.46 s mean</a:t>
            </a:r>
          </a:p>
          <a:p>
            <a:pPr>
              <a:spcBef>
                <a:spcPts val="350"/>
              </a:spcBef>
            </a:pPr>
            <a:r>
              <a:rPr sz="125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50"/>
              </a:spcBef>
            </a:pPr>
            <a:r>
              <a:rPr sz="1250" b="1">
                <a:solidFill>
                  <a:srgbClr val="5BC8FF"/>
                </a:solidFill>
              </a:rPr>
              <a:t>Mitigation</a:t>
            </a:r>
          </a:p>
          <a:p>
            <a:pPr>
              <a:spcBef>
                <a:spcPts val="350"/>
              </a:spcBef>
            </a:pPr>
            <a:r>
              <a:rPr sz="1250" b="0">
                <a:solidFill>
                  <a:srgbClr val="FFFFFF"/>
                </a:solidFill>
              </a:rPr>
              <a:t>0.17 s mean</a:t>
            </a:r>
          </a:p>
          <a:p>
            <a:pPr>
              <a:spcBef>
                <a:spcPts val="350"/>
              </a:spcBef>
            </a:pPr>
            <a:r>
              <a:rPr sz="125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50"/>
              </a:spcBef>
            </a:pPr>
            <a:r>
              <a:rPr sz="1250" b="1">
                <a:solidFill>
                  <a:srgbClr val="5BC8FF"/>
                </a:solidFill>
              </a:rPr>
              <a:t>Total Pipeline</a:t>
            </a:r>
          </a:p>
          <a:p>
            <a:pPr>
              <a:spcBef>
                <a:spcPts val="350"/>
              </a:spcBef>
            </a:pPr>
            <a:r>
              <a:rPr sz="1250" b="0">
                <a:solidFill>
                  <a:srgbClr val="FFFFFF"/>
                </a:solidFill>
              </a:rPr>
              <a:t>2.88 s end-to-end</a:t>
            </a:r>
          </a:p>
          <a:p>
            <a:pPr>
              <a:spcBef>
                <a:spcPts val="350"/>
              </a:spcBef>
            </a:pPr>
            <a:r>
              <a:rPr sz="125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50"/>
              </a:spcBef>
            </a:pPr>
            <a:r>
              <a:rPr sz="1250" b="1">
                <a:solidFill>
                  <a:srgbClr val="5BC8FF"/>
                </a:solidFill>
              </a:rPr>
              <a:t>Blocking Success</a:t>
            </a:r>
          </a:p>
          <a:p>
            <a:pPr>
              <a:spcBef>
                <a:spcPts val="350"/>
              </a:spcBef>
            </a:pPr>
            <a:r>
              <a:rPr sz="1250" b="0">
                <a:solidFill>
                  <a:srgbClr val="FFFFFF"/>
                </a:solidFill>
              </a:rPr>
              <a:t>99%  (198/200)</a:t>
            </a:r>
          </a:p>
          <a:p>
            <a:pPr>
              <a:spcBef>
                <a:spcPts val="350"/>
              </a:spcBef>
            </a:pPr>
            <a:r>
              <a:rPr sz="125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50"/>
              </a:spcBef>
            </a:pPr>
            <a:r>
              <a:rPr sz="1250" b="1">
                <a:solidFill>
                  <a:srgbClr val="5BC8FF"/>
                </a:solidFill>
              </a:rPr>
              <a:t>False Positive Rate</a:t>
            </a:r>
          </a:p>
          <a:p>
            <a:pPr>
              <a:spcBef>
                <a:spcPts val="350"/>
              </a:spcBef>
            </a:pPr>
            <a:r>
              <a:rPr sz="1250" b="0">
                <a:solidFill>
                  <a:srgbClr val="FFFFFF"/>
                </a:solidFill>
              </a:rPr>
              <a:t>&lt; 0.01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138928"/>
            <a:ext cx="2788920" cy="1463040"/>
          </a:xfrm>
          <a:prstGeom prst="rect">
            <a:avLst/>
          </a:prstGeom>
          <a:solidFill>
            <a:srgbClr val="081838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519379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5BC8FF"/>
                </a:solidFill>
              </a:rPr>
              <a:t>&lt;1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870448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Attack
Detection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5138928"/>
            <a:ext cx="2788920" cy="1463040"/>
          </a:xfrm>
          <a:prstGeom prst="rect">
            <a:avLst/>
          </a:prstGeom>
          <a:solidFill>
            <a:srgbClr val="081838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519379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5BC8FF"/>
                </a:solidFill>
              </a:rPr>
              <a:t>2.88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870448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Total
Response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5138928"/>
            <a:ext cx="2788920" cy="1463040"/>
          </a:xfrm>
          <a:prstGeom prst="rect">
            <a:avLst/>
          </a:prstGeom>
          <a:solidFill>
            <a:srgbClr val="081838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519379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5BC8FF"/>
                </a:solidFill>
              </a:rPr>
              <a:t>99%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870448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Blocking
Success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5138928"/>
            <a:ext cx="2788920" cy="1463040"/>
          </a:xfrm>
          <a:prstGeom prst="rect">
            <a:avLst/>
          </a:prstGeom>
          <a:solidFill>
            <a:srgbClr val="081838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519379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5BC8FF"/>
                </a:solidFill>
              </a:rPr>
              <a:t>0.01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5870448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False +ve
Rate (&lt;)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8BDF8"/>
                </a:solidFill>
              </a:rPr>
              <a:t>Wireshark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11430000" cy="36576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Ground-truth verification — 99.96% Scapy ↔ Wireshark packet agreement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</a:rPr>
              <a:t>12 / 16</a:t>
            </a:r>
          </a:p>
        </p:txBody>
      </p:sp>
      <p:pic>
        <p:nvPicPr>
          <p:cNvPr id="7" name="Picture 6" descr="img_wiresh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70432"/>
            <a:ext cx="6858000" cy="3200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0" y="1170432"/>
            <a:ext cx="4572000" cy="320040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79792" y="133502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BC8FF"/>
                </a:solidFill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6992" y="1335024"/>
            <a:ext cx="3813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C8FF"/>
                </a:solidFill>
              </a:rPr>
              <a:t>Session Agreement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16368" y="1810512"/>
            <a:ext cx="4169664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1200" b="0">
                <a:solidFill>
                  <a:srgbClr val="FFFFFF"/>
                </a:solidFill>
              </a:rPr>
              <a:t>Session 1: 12,487 vs 12,483 → 99.97%</a:t>
            </a:r>
          </a:p>
          <a:p>
            <a:pPr>
              <a:spcBef>
                <a:spcPts val="350"/>
              </a:spcBef>
            </a:pPr>
            <a:r>
              <a:rPr sz="1200" b="0">
                <a:solidFill>
                  <a:srgbClr val="FFFFFF"/>
                </a:solidFill>
              </a:rPr>
              <a:t>Session 2: 18,923 vs 18,915 → 99.96%</a:t>
            </a:r>
          </a:p>
          <a:p>
            <a:pPr>
              <a:spcBef>
                <a:spcPts val="350"/>
              </a:spcBef>
            </a:pPr>
            <a:r>
              <a:rPr sz="1200" b="0">
                <a:solidFill>
                  <a:srgbClr val="FFFFFF"/>
                </a:solidFill>
              </a:rPr>
              <a:t>Session 3:  9,456 vs  9,452 → 99.96%</a:t>
            </a:r>
          </a:p>
          <a:p>
            <a:pPr>
              <a:spcBef>
                <a:spcPts val="350"/>
              </a:spcBef>
            </a:pPr>
            <a:r>
              <a:rPr sz="1200" b="0">
                <a:solidFill>
                  <a:srgbClr val="FFFFFF"/>
                </a:solidFill>
              </a:rPr>
              <a:t>Session 4: 15,234 vs 15,229 → 99.97%</a:t>
            </a:r>
          </a:p>
          <a:p>
            <a:pPr>
              <a:spcBef>
                <a:spcPts val="350"/>
              </a:spcBef>
            </a:pPr>
            <a:r>
              <a:rPr sz="1200" b="0">
                <a:solidFill>
                  <a:srgbClr val="FFFFFF"/>
                </a:solidFill>
              </a:rPr>
              <a:t>Session 5: 20,891 vs 20,881 → 99.95%</a:t>
            </a:r>
          </a:p>
          <a:p>
            <a:pPr>
              <a:spcBef>
                <a:spcPts val="350"/>
              </a:spcBef>
            </a:pPr>
            <a:r>
              <a:rPr sz="12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50"/>
              </a:spcBef>
            </a:pPr>
            <a:r>
              <a:rPr sz="1200" b="1">
                <a:solidFill>
                  <a:srgbClr val="5BC8FF"/>
                </a:solidFill>
              </a:rPr>
              <a:t>Mean Agreement: 99.96%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462272"/>
            <a:ext cx="5303520" cy="219456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462686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BC8FF"/>
                </a:solidFill>
              </a:rP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626864"/>
            <a:ext cx="4544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C8FF"/>
                </a:solidFill>
              </a:rPr>
              <a:t>10-Step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5102352"/>
            <a:ext cx="4901184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1200" b="0">
                <a:solidFill>
                  <a:srgbClr val="FFFFFF"/>
                </a:solidFill>
              </a:rPr>
              <a:t>1. Wireshark capture filters  →  2. Start Guardian</a:t>
            </a:r>
          </a:p>
          <a:p>
            <a:pPr>
              <a:spcBef>
                <a:spcPts val="350"/>
              </a:spcBef>
            </a:pPr>
            <a:r>
              <a:rPr sz="1200" b="0">
                <a:solidFill>
                  <a:srgbClr val="FFFFFF"/>
                </a:solidFill>
              </a:rPr>
              <a:t>3. Inject attack  →  4. Observe live capture</a:t>
            </a:r>
          </a:p>
          <a:p>
            <a:pPr>
              <a:spcBef>
                <a:spcPts val="350"/>
              </a:spcBef>
            </a:pPr>
            <a:r>
              <a:rPr sz="1200" b="0">
                <a:solidFill>
                  <a:srgbClr val="FFFFFF"/>
                </a:solidFill>
              </a:rPr>
              <a:t>5. Apply attack filter  →  6. Confirm detection</a:t>
            </a:r>
          </a:p>
          <a:p>
            <a:pPr>
              <a:spcBef>
                <a:spcPts val="350"/>
              </a:spcBef>
            </a:pPr>
            <a:r>
              <a:rPr sz="1200" b="0">
                <a:solidFill>
                  <a:srgbClr val="FFFFFF"/>
                </a:solidFill>
              </a:rPr>
              <a:t>7. Validate LLM explanation accuracy</a:t>
            </a:r>
          </a:p>
          <a:p>
            <a:pPr>
              <a:spcBef>
                <a:spcPts val="350"/>
              </a:spcBef>
            </a:pPr>
            <a:r>
              <a:rPr sz="1200" b="0">
                <a:solidFill>
                  <a:srgbClr val="FFFFFF"/>
                </a:solidFill>
              </a:rPr>
              <a:t>8. Verify block via routing table</a:t>
            </a:r>
          </a:p>
          <a:p>
            <a:pPr>
              <a:spcBef>
                <a:spcPts val="350"/>
              </a:spcBef>
            </a:pPr>
            <a:r>
              <a:rPr sz="1200" b="0">
                <a:solidFill>
                  <a:srgbClr val="FFFFFF"/>
                </a:solidFill>
              </a:rPr>
              <a:t>9. Confirm traffic stops  →  10. Wait 60 s revert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4462272"/>
            <a:ext cx="6126480" cy="219456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25312" y="462686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BC8FF"/>
                </a:solidFill>
              </a:rP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626864"/>
            <a:ext cx="53675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C8FF"/>
                </a:solidFill>
              </a:rPr>
              <a:t>Wireshark Filters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1888" y="5102352"/>
            <a:ext cx="5724144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1200" b="0">
                <a:solidFill>
                  <a:srgbClr val="FFFFFF"/>
                </a:solidFill>
              </a:rPr>
              <a:t>ICMP Flood:      icmp.type==8</a:t>
            </a:r>
          </a:p>
          <a:p>
            <a:pPr>
              <a:spcBef>
                <a:spcPts val="350"/>
              </a:spcBef>
            </a:pPr>
            <a:r>
              <a:rPr sz="1200" b="0">
                <a:solidFill>
                  <a:srgbClr val="FFFFFF"/>
                </a:solidFill>
              </a:rPr>
              <a:t>SYN Flood:       tcp.flags.syn==1 &amp;&amp; tcp.flags.ack==0</a:t>
            </a:r>
          </a:p>
          <a:p>
            <a:pPr>
              <a:spcBef>
                <a:spcPts val="350"/>
              </a:spcBef>
            </a:pPr>
            <a:r>
              <a:rPr sz="1200" b="0">
                <a:solidFill>
                  <a:srgbClr val="FFFFFF"/>
                </a:solidFill>
              </a:rPr>
              <a:t>Port Scan:       tcp.flags.syn==1  (unique dst ports)</a:t>
            </a:r>
          </a:p>
          <a:p>
            <a:pPr>
              <a:spcBef>
                <a:spcPts val="350"/>
              </a:spcBef>
            </a:pPr>
            <a:r>
              <a:rPr sz="1200" b="0">
                <a:solidFill>
                  <a:srgbClr val="FFFFFF"/>
                </a:solidFill>
              </a:rPr>
              <a:t>Fragmentation:   ip.flags.mf==1 || ip.frag_offset&gt;0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8BDF8"/>
                </a:solidFill>
              </a:rPr>
              <a:t>Comparison with Existing Approaches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11430000" cy="36576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Network Guardian vs. Snort / Anomaly IDS / DNN/ML / LIME+SHAP  (Table VI)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</a:rPr>
              <a:t>13 / 16</a:t>
            </a:r>
          </a:p>
        </p:txBody>
      </p:sp>
      <p:pic>
        <p:nvPicPr>
          <p:cNvPr id="7" name="Picture 6" descr="im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70432"/>
            <a:ext cx="6858000" cy="3474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0" y="1170432"/>
            <a:ext cx="4572000" cy="347472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79792" y="133502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BC8FF"/>
                </a:solidFill>
              </a:rPr>
              <a:t>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6992" y="1335024"/>
            <a:ext cx="3813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C8FF"/>
                </a:solidFill>
              </a:rPr>
              <a:t>What Makes Us Different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16368" y="1810512"/>
            <a:ext cx="4169664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1200" b="1">
                <a:solidFill>
                  <a:srgbClr val="5BC8FF"/>
                </a:solidFill>
              </a:rPr>
              <a:t>Snort [11]</a:t>
            </a:r>
          </a:p>
          <a:p>
            <a:pPr>
              <a:spcBef>
                <a:spcPts val="350"/>
              </a:spcBef>
            </a:pPr>
            <a:r>
              <a:rPr sz="1200" b="0">
                <a:solidFill>
                  <a:srgbClr val="FFFFFF"/>
                </a:solidFill>
              </a:rPr>
              <a:t>  ✗ No explainability  ✗ No auto-mitigation</a:t>
            </a:r>
          </a:p>
          <a:p>
            <a:pPr>
              <a:spcBef>
                <a:spcPts val="350"/>
              </a:spcBef>
            </a:pPr>
            <a:r>
              <a:rPr sz="1200" b="1">
                <a:solidFill>
                  <a:srgbClr val="5BC8FF"/>
                </a:solidFill>
              </a:rPr>
              <a:t>Anomaly IDS [12]</a:t>
            </a:r>
          </a:p>
          <a:p>
            <a:pPr>
              <a:spcBef>
                <a:spcPts val="350"/>
              </a:spcBef>
            </a:pPr>
            <a:r>
              <a:rPr sz="1200" b="0">
                <a:solidFill>
                  <a:srgbClr val="FFFFFF"/>
                </a:solidFill>
              </a:rPr>
              <a:t>  ✗ 10–30% false positives  ✗ No mitigation</a:t>
            </a:r>
          </a:p>
          <a:p>
            <a:pPr>
              <a:spcBef>
                <a:spcPts val="350"/>
              </a:spcBef>
            </a:pPr>
            <a:r>
              <a:rPr sz="1200" b="1">
                <a:solidFill>
                  <a:srgbClr val="5BC8FF"/>
                </a:solidFill>
              </a:rPr>
              <a:t>DNN/ML IDS [13]</a:t>
            </a:r>
          </a:p>
          <a:p>
            <a:pPr>
              <a:spcBef>
                <a:spcPts val="350"/>
              </a:spcBef>
            </a:pPr>
            <a:r>
              <a:rPr sz="1200" b="0">
                <a:solidFill>
                  <a:srgbClr val="FFFFFF"/>
                </a:solidFill>
              </a:rPr>
              <a:t>  ✗ Black-box  ✗ No explanation  ✗ No action</a:t>
            </a:r>
          </a:p>
          <a:p>
            <a:pPr>
              <a:spcBef>
                <a:spcPts val="350"/>
              </a:spcBef>
            </a:pPr>
            <a:r>
              <a:rPr sz="1200" b="1">
                <a:solidFill>
                  <a:srgbClr val="5BC8FF"/>
                </a:solidFill>
              </a:rPr>
              <a:t>LIME/SHAP [14,15]</a:t>
            </a:r>
          </a:p>
          <a:p>
            <a:pPr>
              <a:spcBef>
                <a:spcPts val="350"/>
              </a:spcBef>
            </a:pPr>
            <a:r>
              <a:rPr sz="1200" b="0">
                <a:solidFill>
                  <a:srgbClr val="FFFFFF"/>
                </a:solidFill>
              </a:rPr>
              <a:t>  ✗ Technical only  ✗ No mitigation</a:t>
            </a:r>
          </a:p>
          <a:p>
            <a:pPr>
              <a:spcBef>
                <a:spcPts val="350"/>
              </a:spcBef>
            </a:pPr>
            <a:r>
              <a:rPr sz="1200" b="1">
                <a:solidFill>
                  <a:srgbClr val="5BC8FF"/>
                </a:solidFill>
              </a:rPr>
              <a:t>Network Guardian</a:t>
            </a:r>
          </a:p>
          <a:p>
            <a:pPr>
              <a:spcBef>
                <a:spcPts val="350"/>
              </a:spcBef>
            </a:pPr>
            <a:r>
              <a:rPr sz="1200" b="0">
                <a:solidFill>
                  <a:srgbClr val="FFFFFF"/>
                </a:solidFill>
              </a:rPr>
              <a:t>  ✓ Plain English  ✓ Auto-block  ✓ 2.88 s  ✓ Revert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754880"/>
            <a:ext cx="2194560" cy="429768"/>
          </a:xfrm>
          <a:prstGeom prst="rect">
            <a:avLst/>
          </a:prstGeom>
          <a:solidFill>
            <a:srgbClr val="0D345C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4828032"/>
            <a:ext cx="2103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BC8FF"/>
                </a:solidFill>
              </a:rPr>
              <a:t>Approach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4754880"/>
            <a:ext cx="2011680" cy="429768"/>
          </a:xfrm>
          <a:prstGeom prst="rect">
            <a:avLst/>
          </a:prstGeom>
          <a:solidFill>
            <a:srgbClr val="0D345C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482803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BC8FF"/>
                </a:solidFill>
              </a:rPr>
              <a:t>Explainability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4754880"/>
            <a:ext cx="2011680" cy="429768"/>
          </a:xfrm>
          <a:prstGeom prst="rect">
            <a:avLst/>
          </a:prstGeom>
          <a:solidFill>
            <a:srgbClr val="0D345C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482803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BC8FF"/>
                </a:solidFill>
              </a:rPr>
              <a:t>Auto Mitigation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4754880"/>
            <a:ext cx="1417320" cy="429768"/>
          </a:xfrm>
          <a:prstGeom prst="rect">
            <a:avLst/>
          </a:prstGeom>
          <a:solidFill>
            <a:srgbClr val="0D345C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828032"/>
            <a:ext cx="1325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BC8FF"/>
                </a:solidFill>
              </a:rPr>
              <a:t>Response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184648"/>
            <a:ext cx="2194560" cy="42976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5257800"/>
            <a:ext cx="2103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Snort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5184648"/>
            <a:ext cx="2011680" cy="42976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5257800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None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5184648"/>
            <a:ext cx="2011680" cy="42976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5257800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5184648"/>
            <a:ext cx="1417320" cy="42976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5257800"/>
            <a:ext cx="1325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Manual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614416"/>
            <a:ext cx="2194560" cy="42976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5687568"/>
            <a:ext cx="2103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Anomaly IDS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68880" y="5614416"/>
            <a:ext cx="2011680" cy="42976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600" y="5687568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None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60" y="5614416"/>
            <a:ext cx="2011680" cy="42976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5687568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5614416"/>
            <a:ext cx="1417320" cy="42976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5687568"/>
            <a:ext cx="1325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Manual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6044184"/>
            <a:ext cx="2194560" cy="42976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6117336"/>
            <a:ext cx="2103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DNN/ML IDS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68880" y="6044184"/>
            <a:ext cx="2011680" cy="42976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14600" y="611733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None (black box)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60" y="6044184"/>
            <a:ext cx="2011680" cy="42976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26280" y="611733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6044184"/>
            <a:ext cx="1417320" cy="42976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6117336"/>
            <a:ext cx="1325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Manual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6473952"/>
            <a:ext cx="2194560" cy="429768"/>
          </a:xfrm>
          <a:prstGeom prst="rect">
            <a:avLst/>
          </a:prstGeom>
          <a:solidFill>
            <a:srgbClr val="052818"/>
          </a:solidFill>
          <a:ln w="25400">
            <a:solidFill>
              <a:srgbClr val="00F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6547104"/>
            <a:ext cx="2103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0FF80"/>
                </a:solidFill>
              </a:rPr>
              <a:t>Network Guardian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68880" y="6473952"/>
            <a:ext cx="2011680" cy="429768"/>
          </a:xfrm>
          <a:prstGeom prst="rect">
            <a:avLst/>
          </a:prstGeom>
          <a:solidFill>
            <a:srgbClr val="052818"/>
          </a:solidFill>
          <a:ln w="25400">
            <a:solidFill>
              <a:srgbClr val="00F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14600" y="654710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0FF80"/>
                </a:solidFill>
              </a:rPr>
              <a:t>Plain English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80560" y="6473952"/>
            <a:ext cx="2011680" cy="429768"/>
          </a:xfrm>
          <a:prstGeom prst="rect">
            <a:avLst/>
          </a:prstGeom>
          <a:solidFill>
            <a:srgbClr val="052818"/>
          </a:solidFill>
          <a:ln w="25400">
            <a:solidFill>
              <a:srgbClr val="00F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26280" y="654710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0FF80"/>
                </a:solidFill>
              </a:rPr>
              <a:t>Yes (60s revert)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6473952"/>
            <a:ext cx="1417320" cy="429768"/>
          </a:xfrm>
          <a:prstGeom prst="rect">
            <a:avLst/>
          </a:prstGeom>
          <a:solidFill>
            <a:srgbClr val="052818"/>
          </a:solidFill>
          <a:ln w="25400">
            <a:solidFill>
              <a:srgbClr val="00F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7960" y="6547104"/>
            <a:ext cx="1325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0FF80"/>
                </a:solidFill>
              </a:rPr>
              <a:t>2.88 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8BDF8"/>
                </a:solidFill>
              </a:rPr>
              <a:t>Challenges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11430000" cy="36576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</a:rPr>
              <a:t>14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170432"/>
            <a:ext cx="3749039" cy="548640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3502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BC8FF"/>
                </a:solidFill>
              </a:rPr>
              <a:t>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35024"/>
            <a:ext cx="299008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C8FF"/>
                </a:solidFill>
              </a:rPr>
              <a:t>Technical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810512"/>
            <a:ext cx="3346703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1300" b="0">
                <a:solidFill>
                  <a:srgbClr val="FFFFFF"/>
                </a:solidFill>
              </a:rPr>
              <a:t>LLM response randomness:
  ~2% responses had formatting errors.
  Solved: exponential backoff + retry.
CPU-only inference: 2.46 s per explanation.
  GPU deployment → &lt; 0.5 s.
Single-host only — no distributed
or multi-network support yet.
IPv6 not yet supported.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170432"/>
            <a:ext cx="3749039" cy="548640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33502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BC8FF"/>
                </a:solidFill>
              </a:rPr>
              <a:t>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335024"/>
            <a:ext cx="299008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C8FF"/>
                </a:solidFill>
              </a:rPr>
              <a:t>Ethical Considerations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1810512"/>
            <a:ext cx="3346703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1300" b="0">
                <a:solidFill>
                  <a:srgbClr val="FFFFFF"/>
                </a:solidFill>
              </a:rPr>
              <a:t>False positive risk:
  Legitimate traffic could be blocked.
  Mitigated by 60 s auto-revert.
LLM explanations are AI-generated:
  Should not replace human judgment
  for critical security decisions.
Balancing autonomous action with
human oversight in production.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47888" y="1170432"/>
            <a:ext cx="3749039" cy="548640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33502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BC8FF"/>
                </a:solidFill>
              </a:rPr>
              <a:t>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1335024"/>
            <a:ext cx="299008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C8FF"/>
                </a:solidFill>
              </a:rPr>
              <a:t>Scope Limitations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1810512"/>
            <a:ext cx="3346703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1300" b="0">
                <a:solidFill>
                  <a:srgbClr val="FFFFFF"/>
                </a:solidFill>
              </a:rPr>
              <a:t>Tested on local loopback only
  (RFC 5737 TEST-NET source IPs).
5 attack types only:
  DNS amplification and HTTP
  slowloris not yet covered.
Adversarial disinformation evolves:
  Thresholds need continuous
  recalibration for new patterns.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38BDF8"/>
                </a:solidFill>
              </a:rP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9264"/>
            <a:ext cx="11430000" cy="36576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5379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</a:rPr>
              <a:t>15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5577840" cy="557784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28016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BC8FF"/>
                </a:solidFill>
              </a:rPr>
              <a:t>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280160"/>
            <a:ext cx="4818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5BC8FF"/>
                </a:solidFill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755648"/>
            <a:ext cx="5175504" cy="482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1350" b="0">
                <a:solidFill>
                  <a:srgbClr val="FFFFFF"/>
                </a:solidFill>
              </a:rPr>
              <a:t>Network Guardian proves that integrating local LLMs into network security is feasible, practical, and valuable.</a:t>
            </a:r>
          </a:p>
          <a:p>
            <a:pPr>
              <a:spcBef>
                <a:spcPts val="350"/>
              </a:spcBef>
            </a:pPr>
            <a:r>
              <a:rPr sz="135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50"/>
              </a:spcBef>
            </a:pPr>
            <a:r>
              <a:rPr sz="1350" b="0">
                <a:solidFill>
                  <a:srgbClr val="FFFFFF"/>
                </a:solidFill>
              </a:rPr>
              <a:t>✓  Detects attacks in &lt; 1 second</a:t>
            </a:r>
          </a:p>
          <a:p>
            <a:pPr>
              <a:spcBef>
                <a:spcPts val="350"/>
              </a:spcBef>
            </a:pPr>
            <a:r>
              <a:rPr sz="1350" b="0">
                <a:solidFill>
                  <a:srgbClr val="FFFFFF"/>
                </a:solidFill>
              </a:rPr>
              <a:t>✓  Explains in plain English — 2.5 s</a:t>
            </a:r>
          </a:p>
          <a:p>
            <a:pPr>
              <a:spcBef>
                <a:spcPts val="350"/>
              </a:spcBef>
            </a:pPr>
            <a:r>
              <a:rPr sz="1350" b="0">
                <a:solidFill>
                  <a:srgbClr val="FFFFFF"/>
                </a:solidFill>
              </a:rPr>
              <a:t>✓  Blocks in 0.17 s with 60 s auto-revert</a:t>
            </a:r>
          </a:p>
          <a:p>
            <a:pPr>
              <a:spcBef>
                <a:spcPts val="350"/>
              </a:spcBef>
            </a:pPr>
            <a:r>
              <a:rPr sz="1350" b="0">
                <a:solidFill>
                  <a:srgbClr val="FFFFFF"/>
                </a:solidFill>
              </a:rPr>
              <a:t>✓  99% blocking success rate</a:t>
            </a:r>
          </a:p>
          <a:p>
            <a:pPr>
              <a:spcBef>
                <a:spcPts val="350"/>
              </a:spcBef>
            </a:pPr>
            <a:r>
              <a:rPr sz="1350" b="0">
                <a:solidFill>
                  <a:srgbClr val="FFFFFF"/>
                </a:solidFill>
              </a:rPr>
              <a:t>✓  &lt; 0.01 false positive rate — 100 hours tested</a:t>
            </a:r>
          </a:p>
          <a:p>
            <a:pPr>
              <a:spcBef>
                <a:spcPts val="350"/>
              </a:spcBef>
            </a:pPr>
            <a:r>
              <a:rPr sz="1350" b="0">
                <a:solidFill>
                  <a:srgbClr val="FFFFFF"/>
                </a:solidFill>
              </a:rPr>
              <a:t>✓  99.96% Wireshark validation agreement</a:t>
            </a:r>
          </a:p>
          <a:p>
            <a:pPr>
              <a:spcBef>
                <a:spcPts val="350"/>
              </a:spcBef>
            </a:pPr>
            <a:r>
              <a:rPr sz="1350" b="0">
                <a:solidFill>
                  <a:srgbClr val="FFFFFF"/>
                </a:solidFill>
              </a:rPr>
              <a:t>✓  100% user comprehension of AI explanations</a:t>
            </a:r>
          </a:p>
          <a:p>
            <a:pPr>
              <a:spcBef>
                <a:spcPts val="350"/>
              </a:spcBef>
            </a:pPr>
            <a:r>
              <a:rPr sz="1350" b="0">
                <a:solidFill>
                  <a:srgbClr val="FFFFFF"/>
                </a:solidFill>
              </a:rPr>
              <a:t>   vs. &lt; 30% for raw technical alerts</a:t>
            </a:r>
          </a:p>
          <a:p>
            <a:pPr>
              <a:spcBef>
                <a:spcPts val="350"/>
              </a:spcBef>
            </a:pPr>
            <a:r>
              <a:rPr sz="135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50"/>
              </a:spcBef>
            </a:pPr>
            <a:r>
              <a:rPr sz="1350" b="0">
                <a:solidFill>
                  <a:srgbClr val="FFFFFF"/>
                </a:solidFill>
              </a:rPr>
              <a:t>Especially valuable as an educational tool:
students launch attacks against themselves and
immediately observe AI-driven detect+explain+block.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115568"/>
            <a:ext cx="5760720" cy="557784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28016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BC8FF"/>
                </a:solidFill>
              </a:rPr>
              <a:t>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8272" y="1280160"/>
            <a:ext cx="5001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5BC8FF"/>
                </a:solidFill>
              </a:rPr>
              <a:t>Future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1755648"/>
            <a:ext cx="5358384" cy="482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1300" b="1">
                <a:solidFill>
                  <a:srgbClr val="5BC8FF"/>
                </a:solidFill>
              </a:rPr>
              <a:t>GPU-Accelerated LLM</a:t>
            </a:r>
          </a:p>
          <a:p>
            <a:pPr>
              <a:spcBef>
                <a:spcPts val="350"/>
              </a:spcBef>
            </a:pPr>
            <a:r>
              <a:rPr sz="1300" b="0">
                <a:solidFill>
                  <a:srgbClr val="FFFFFF"/>
                </a:solidFill>
              </a:rPr>
              <a:t>  Llama-3 / Mistral on GPU → &lt; 0.5 s analysis.</a:t>
            </a:r>
          </a:p>
          <a:p>
            <a:pPr>
              <a:spcBef>
                <a:spcPts val="35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5BC8FF"/>
                </a:solidFill>
              </a:rPr>
              <a:t>Adaptive Thresholds</a:t>
            </a:r>
          </a:p>
          <a:p>
            <a:pPr>
              <a:spcBef>
                <a:spcPts val="350"/>
              </a:spcBef>
            </a:pPr>
            <a:r>
              <a:rPr sz="1300" b="0">
                <a:solidFill>
                  <a:srgbClr val="FFFFFF"/>
                </a:solidFill>
              </a:rPr>
              <a:t>  EWMA + Bayesian traffic baseline recalibration.</a:t>
            </a:r>
          </a:p>
          <a:p>
            <a:pPr>
              <a:spcBef>
                <a:spcPts val="35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5BC8FF"/>
                </a:solidFill>
              </a:rPr>
              <a:t>Multi-Host Deployment</a:t>
            </a:r>
          </a:p>
          <a:p>
            <a:pPr>
              <a:spcBef>
                <a:spcPts val="350"/>
              </a:spcBef>
            </a:pPr>
            <a:r>
              <a:rPr sz="1300" b="0">
                <a:solidFill>
                  <a:srgbClr val="FFFFFF"/>
                </a:solidFill>
              </a:rPr>
              <a:t>  Distributed agents with centralised control.</a:t>
            </a:r>
          </a:p>
          <a:p>
            <a:pPr>
              <a:spcBef>
                <a:spcPts val="35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5BC8FF"/>
                </a:solidFill>
              </a:rPr>
              <a:t>SIEM Integration</a:t>
            </a:r>
          </a:p>
          <a:p>
            <a:pPr>
              <a:spcBef>
                <a:spcPts val="350"/>
              </a:spcBef>
            </a:pPr>
            <a:r>
              <a:rPr sz="1300" b="0">
                <a:solidFill>
                  <a:srgbClr val="FFFFFF"/>
                </a:solidFill>
              </a:rPr>
              <a:t>  ThreatEvents → Elasticsearch / Splunk / syslog.</a:t>
            </a:r>
          </a:p>
          <a:p>
            <a:pPr>
              <a:spcBef>
                <a:spcPts val="35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5BC8FF"/>
                </a:solidFill>
              </a:rPr>
              <a:t>Threat Intelligence Feeds</a:t>
            </a:r>
          </a:p>
          <a:p>
            <a:pPr>
              <a:spcBef>
                <a:spcPts val="350"/>
              </a:spcBef>
            </a:pPr>
            <a:r>
              <a:rPr sz="1300" b="0">
                <a:solidFill>
                  <a:srgbClr val="FFFFFF"/>
                </a:solidFill>
              </a:rPr>
              <a:t>  VirusTotal + MITRE ATT&amp;CK + PostgreSQL.</a:t>
            </a:r>
          </a:p>
          <a:p>
            <a:pPr>
              <a:spcBef>
                <a:spcPts val="35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50"/>
              </a:spcBef>
            </a:pPr>
            <a:r>
              <a:rPr sz="1300" b="1">
                <a:solidFill>
                  <a:srgbClr val="5BC8FF"/>
                </a:solidFill>
              </a:rPr>
              <a:t>Extended Attack Coverage</a:t>
            </a:r>
          </a:p>
          <a:p>
            <a:pPr>
              <a:spcBef>
                <a:spcPts val="350"/>
              </a:spcBef>
            </a:pPr>
            <a:r>
              <a:rPr sz="1300" b="0">
                <a:solidFill>
                  <a:srgbClr val="FFFFFF"/>
                </a:solidFill>
              </a:rPr>
              <a:t>  DNS amplification, HTTP slowloris,
  multiple LLM workers for parallelism.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11548872" cy="6309360"/>
          </a:xfrm>
          <a:prstGeom prst="rect">
            <a:avLst/>
          </a:prstGeom>
          <a:solidFill>
            <a:srgbClr val="0A1628"/>
          </a:solidFill>
          <a:ln w="317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64592"/>
            <a:ext cx="128016" cy="12801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77472" y="164592"/>
            <a:ext cx="128016" cy="12801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473952"/>
            <a:ext cx="128016" cy="12801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2" y="6473952"/>
            <a:ext cx="128016" cy="12801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457200"/>
            <a:ext cx="377647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0" b="1" i="0">
                <a:solidFill>
                  <a:srgbClr val="38BDF8"/>
                </a:solidFill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15968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BD5E1"/>
                </a:solidFill>
              </a:rPr>
              <a:t>Thank you for your attention.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4937760"/>
            <a:ext cx="7616952" cy="36576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12064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Arya Y P  |  Adi Narayan Prasad G  |  Ashrith S Jain  |  Abhishek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55955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</a:rPr>
              <a:t>Dept. of ISE  |  B.M.S. College of Engineering, Bengaluru  |  ICWITE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